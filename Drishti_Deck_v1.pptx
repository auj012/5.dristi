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5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645920"/>
            <a:ext cx="10515600" cy="640080"/>
          </a:xfrm>
          <a:prstGeom prst="rect">
            <a:avLst/>
          </a:prstGeom>
          <a:noFill/>
        </p:spPr>
        <p:txBody>
          <a:bodyPr wrap="square" anchor="t" lIns="0" rIns="0" tIns="0" bIns="0">
            <a:spAutoFit/>
          </a:bodyPr>
          <a:lstStyle/>
          <a:p>
            <a:pPr algn="l"/>
            <a:r>
              <a:rPr sz="4800" b="1" i="0">
                <a:solidFill>
                  <a:srgbClr val="FFFFFF"/>
                </a:solidFill>
                <a:latin typeface="Calibri"/>
              </a:rPr>
              <a:t>DRISHTI</a:t>
            </a:r>
          </a:p>
        </p:txBody>
      </p:sp>
      <p:sp>
        <p:nvSpPr>
          <p:cNvPr id="4" name="TextBox 3"/>
          <p:cNvSpPr txBox="1"/>
          <p:nvPr/>
        </p:nvSpPr>
        <p:spPr>
          <a:xfrm>
            <a:off x="822960" y="2514600"/>
            <a:ext cx="10515600" cy="411480"/>
          </a:xfrm>
          <a:prstGeom prst="rect">
            <a:avLst/>
          </a:prstGeom>
          <a:noFill/>
        </p:spPr>
        <p:txBody>
          <a:bodyPr wrap="square" anchor="t" lIns="0" rIns="0" tIns="0" bIns="0">
            <a:spAutoFit/>
          </a:bodyPr>
          <a:lstStyle/>
          <a:p>
            <a:pPr algn="l"/>
            <a:r>
              <a:rPr sz="2000" b="0" i="1">
                <a:solidFill>
                  <a:srgbClr val="E9A23B"/>
                </a:solidFill>
                <a:latin typeface="Calibri"/>
              </a:rPr>
              <a:t>See beyond your resume.</a:t>
            </a:r>
          </a:p>
        </p:txBody>
      </p:sp>
      <p:sp>
        <p:nvSpPr>
          <p:cNvPr id="5" name="TextBox 4"/>
          <p:cNvSpPr txBox="1"/>
          <p:nvPr/>
        </p:nvSpPr>
        <p:spPr>
          <a:xfrm>
            <a:off x="822960" y="3200400"/>
            <a:ext cx="10515600" cy="731520"/>
          </a:xfrm>
          <a:prstGeom prst="rect">
            <a:avLst/>
          </a:prstGeom>
          <a:noFill/>
        </p:spPr>
        <p:txBody>
          <a:bodyPr wrap="square" anchor="t" lIns="0" rIns="0" tIns="0" bIns="0">
            <a:spAutoFit/>
          </a:bodyPr>
          <a:lstStyle/>
          <a:p>
            <a:pPr algn="l"/>
            <a:r>
              <a:rPr sz="1300" b="0" i="0">
                <a:solidFill>
                  <a:srgbClr val="ECF0F7"/>
                </a:solidFill>
                <a:latin typeface="Calibri"/>
              </a:rPr>
              <a:t>An AI-powered career intelligence agent exploring whether a candidate's future direction can be better understood through experience, interests, projects, learning activities, and career goals — combined.</a:t>
            </a:r>
          </a:p>
        </p:txBody>
      </p:sp>
      <p:sp>
        <p:nvSpPr>
          <p:cNvPr id="6" name="Rectangle 5"/>
          <p:cNvSpPr/>
          <p:nvPr/>
        </p:nvSpPr>
        <p:spPr>
          <a:xfrm>
            <a:off x="822960" y="4297680"/>
            <a:ext cx="10515600" cy="18288"/>
          </a:xfrm>
          <a:prstGeom prst="rect">
            <a:avLst/>
          </a:prstGeom>
          <a:solidFill>
            <a:srgbClr val="2C40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4572000"/>
            <a:ext cx="10515600" cy="320040"/>
          </a:xfrm>
          <a:prstGeom prst="rect">
            <a:avLst/>
          </a:prstGeom>
          <a:noFill/>
        </p:spPr>
        <p:txBody>
          <a:bodyPr wrap="square" anchor="t" lIns="0" rIns="0" tIns="0" bIns="0">
            <a:spAutoFit/>
          </a:bodyPr>
          <a:lstStyle/>
          <a:p>
            <a:pPr algn="l"/>
            <a:r>
              <a:rPr sz="1200" b="1" i="0">
                <a:solidFill>
                  <a:srgbClr val="FFFFFF"/>
                </a:solidFill>
                <a:latin typeface="Calibri"/>
              </a:rPr>
              <a:t>Ushasree Jakilinki  ·  AI Product &amp; Agentic AI Portfolio</a:t>
            </a:r>
          </a:p>
        </p:txBody>
      </p:sp>
      <p:sp>
        <p:nvSpPr>
          <p:cNvPr id="8" name="TextBox 7"/>
          <p:cNvSpPr txBox="1"/>
          <p:nvPr/>
        </p:nvSpPr>
        <p:spPr>
          <a:xfrm>
            <a:off x="822960" y="4983480"/>
            <a:ext cx="10515600" cy="320040"/>
          </a:xfrm>
          <a:prstGeom prst="rect">
            <a:avLst/>
          </a:prstGeom>
          <a:noFill/>
        </p:spPr>
        <p:txBody>
          <a:bodyPr wrap="square" anchor="t" lIns="0" rIns="0" tIns="0" bIns="0">
            <a:spAutoFit/>
          </a:bodyPr>
          <a:lstStyle/>
          <a:p>
            <a:pPr algn="l"/>
            <a:r>
              <a:rPr sz="1050" b="0" i="1">
                <a:solidFill>
                  <a:srgbClr val="A9B7CC"/>
                </a:solidFill>
                <a:latin typeface="Calibri"/>
              </a:rPr>
              <a:t>Drishti (Sanskrit): vision, insight, perspective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5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1155680" cy="502920"/>
          </a:xfrm>
          <a:prstGeom prst="rect">
            <a:avLst/>
          </a:prstGeom>
          <a:noFill/>
        </p:spPr>
        <p:txBody>
          <a:bodyPr wrap="square" anchor="t" lIns="0" rIns="0" tIns="0" bIns="0">
            <a:spAutoFit/>
          </a:bodyPr>
          <a:lstStyle/>
          <a:p>
            <a:pPr algn="l"/>
            <a:r>
              <a:rPr sz="2600" b="1" i="0">
                <a:solidFill>
                  <a:srgbClr val="FFFFFF"/>
                </a:solidFill>
                <a:latin typeface="Calibri"/>
              </a:rPr>
              <a:t>The Thesis</a:t>
            </a:r>
          </a:p>
        </p:txBody>
      </p:sp>
      <p:sp>
        <p:nvSpPr>
          <p:cNvPr id="4" name="TextBox 3"/>
          <p:cNvSpPr txBox="1"/>
          <p:nvPr/>
        </p:nvSpPr>
        <p:spPr>
          <a:xfrm>
            <a:off x="502920" y="6492240"/>
            <a:ext cx="5486400" cy="256032"/>
          </a:xfrm>
          <a:prstGeom prst="rect">
            <a:avLst/>
          </a:prstGeom>
          <a:noFill/>
        </p:spPr>
        <p:txBody>
          <a:bodyPr wrap="square" anchor="t" lIns="0" rIns="0" tIns="0" bIns="0">
            <a:spAutoFit/>
          </a:bodyPr>
          <a:lstStyle/>
          <a:p>
            <a:pPr algn="l"/>
            <a:r>
              <a:rPr sz="850" b="0" i="0">
                <a:solidFill>
                  <a:srgbClr val="A9B7CC"/>
                </a:solidFill>
                <a:latin typeface="Calibri"/>
              </a:rPr>
              <a:t>Drishti · Ushasree Jakilinki</a:t>
            </a:r>
          </a:p>
        </p:txBody>
      </p:sp>
      <p:sp>
        <p:nvSpPr>
          <p:cNvPr id="5" name="TextBox 4"/>
          <p:cNvSpPr txBox="1"/>
          <p:nvPr/>
        </p:nvSpPr>
        <p:spPr>
          <a:xfrm>
            <a:off x="8778240" y="6492240"/>
            <a:ext cx="3017520" cy="256032"/>
          </a:xfrm>
          <a:prstGeom prst="rect">
            <a:avLst/>
          </a:prstGeom>
          <a:noFill/>
        </p:spPr>
        <p:txBody>
          <a:bodyPr wrap="square" anchor="t" lIns="0" rIns="0" tIns="0" bIns="0">
            <a:spAutoFit/>
          </a:bodyPr>
          <a:lstStyle/>
          <a:p>
            <a:pPr algn="r"/>
            <a:r>
              <a:rPr sz="850" b="0" i="0">
                <a:solidFill>
                  <a:srgbClr val="A9B7CC"/>
                </a:solidFill>
                <a:latin typeface="Calibri"/>
              </a:rPr>
              <a:t>2</a:t>
            </a:r>
          </a:p>
        </p:txBody>
      </p:sp>
      <p:sp>
        <p:nvSpPr>
          <p:cNvPr id="6" name="Rounded Rectangle 5"/>
          <p:cNvSpPr/>
          <p:nvPr/>
        </p:nvSpPr>
        <p:spPr>
          <a:xfrm>
            <a:off x="822960" y="1645920"/>
            <a:ext cx="10515600" cy="1371600"/>
          </a:xfrm>
          <a:prstGeom prst="roundRect">
            <a:avLst>
              <a:gd name="adj" fmla="val 10000"/>
            </a:avLst>
          </a:prstGeom>
          <a:solidFill>
            <a:srgbClr val="1E30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1920240"/>
            <a:ext cx="9966960" cy="914400"/>
          </a:xfrm>
          <a:prstGeom prst="rect">
            <a:avLst/>
          </a:prstGeom>
          <a:noFill/>
        </p:spPr>
        <p:txBody>
          <a:bodyPr wrap="square" anchor="t" lIns="0" rIns="0" tIns="0" bIns="0">
            <a:spAutoFit/>
          </a:bodyPr>
          <a:lstStyle/>
          <a:p>
            <a:pPr algn="ctr"/>
            <a:r>
              <a:rPr sz="1700" b="1" i="1">
                <a:solidFill>
                  <a:srgbClr val="E9A23B"/>
                </a:solidFill>
                <a:latin typeface="Calibri"/>
              </a:rPr>
              <a:t>“Career decisions should not be based solely on who a person has been — but also on who they are becoming.”</a:t>
            </a:r>
          </a:p>
        </p:txBody>
      </p:sp>
      <p:sp>
        <p:nvSpPr>
          <p:cNvPr id="8" name="Rounded Rectangle 7"/>
          <p:cNvSpPr/>
          <p:nvPr/>
        </p:nvSpPr>
        <p:spPr>
          <a:xfrm>
            <a:off x="822960" y="3383280"/>
            <a:ext cx="5120640" cy="1737360"/>
          </a:xfrm>
          <a:prstGeom prst="roundRect">
            <a:avLst>
              <a:gd name="adj" fmla="val 10000"/>
            </a:avLst>
          </a:prstGeom>
          <a:solidFill>
            <a:srgbClr val="1E30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4128" y="3520440"/>
            <a:ext cx="4718303" cy="320040"/>
          </a:xfrm>
          <a:prstGeom prst="rect">
            <a:avLst/>
          </a:prstGeom>
          <a:noFill/>
        </p:spPr>
        <p:txBody>
          <a:bodyPr wrap="square" anchor="t" lIns="0" rIns="0" tIns="0" bIns="0">
            <a:spAutoFit/>
          </a:bodyPr>
          <a:lstStyle/>
          <a:p>
            <a:pPr algn="l"/>
            <a:r>
              <a:rPr sz="1200" b="1" i="0">
                <a:solidFill>
                  <a:srgbClr val="E9A23B"/>
                </a:solidFill>
                <a:latin typeface="Calibri"/>
              </a:rPr>
              <a:t>Traditional platforms ask</a:t>
            </a:r>
          </a:p>
        </p:txBody>
      </p:sp>
      <p:sp>
        <p:nvSpPr>
          <p:cNvPr id="10" name="TextBox 9"/>
          <p:cNvSpPr txBox="1"/>
          <p:nvPr/>
        </p:nvSpPr>
        <p:spPr>
          <a:xfrm>
            <a:off x="1024128" y="3886200"/>
            <a:ext cx="4718303" cy="1097280"/>
          </a:xfrm>
          <a:prstGeom prst="rect">
            <a:avLst/>
          </a:prstGeom>
          <a:noFill/>
        </p:spPr>
        <p:txBody>
          <a:bodyPr wrap="square" anchor="t" lIns="0" rIns="0" tIns="0" bIns="0">
            <a:spAutoFit/>
          </a:bodyPr>
          <a:lstStyle/>
          <a:p>
            <a:pPr algn="l"/>
            <a:r>
              <a:rPr sz="1100" b="0" i="0">
                <a:solidFill>
                  <a:srgbClr val="ECF0F7"/>
                </a:solidFill>
                <a:latin typeface="Calibri"/>
              </a:rPr>
              <a:t>“What jobs match my resume?” — matching against historical keywords, so a career in transition stays invisible to the machine.</a:t>
            </a:r>
          </a:p>
        </p:txBody>
      </p:sp>
      <p:sp>
        <p:nvSpPr>
          <p:cNvPr id="11" name="Rounded Rectangle 10"/>
          <p:cNvSpPr/>
          <p:nvPr/>
        </p:nvSpPr>
        <p:spPr>
          <a:xfrm>
            <a:off x="6217920" y="3383280"/>
            <a:ext cx="5120640" cy="1737360"/>
          </a:xfrm>
          <a:prstGeom prst="roundRect">
            <a:avLst>
              <a:gd name="adj" fmla="val 10000"/>
            </a:avLst>
          </a:prstGeom>
          <a:solidFill>
            <a:srgbClr val="1E30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19088" y="3520440"/>
            <a:ext cx="4718303" cy="320040"/>
          </a:xfrm>
          <a:prstGeom prst="rect">
            <a:avLst/>
          </a:prstGeom>
          <a:noFill/>
        </p:spPr>
        <p:txBody>
          <a:bodyPr wrap="square" anchor="t" lIns="0" rIns="0" tIns="0" bIns="0">
            <a:spAutoFit/>
          </a:bodyPr>
          <a:lstStyle/>
          <a:p>
            <a:pPr algn="l"/>
            <a:r>
              <a:rPr sz="1200" b="1" i="0">
                <a:solidFill>
                  <a:srgbClr val="E9A23B"/>
                </a:solidFill>
                <a:latin typeface="Calibri"/>
              </a:rPr>
              <a:t>Drishti asks</a:t>
            </a:r>
          </a:p>
        </p:txBody>
      </p:sp>
      <p:sp>
        <p:nvSpPr>
          <p:cNvPr id="13" name="TextBox 12"/>
          <p:cNvSpPr txBox="1"/>
          <p:nvPr/>
        </p:nvSpPr>
        <p:spPr>
          <a:xfrm>
            <a:off x="6419088" y="3886200"/>
            <a:ext cx="4718303" cy="1097280"/>
          </a:xfrm>
          <a:prstGeom prst="rect">
            <a:avLst/>
          </a:prstGeom>
          <a:noFill/>
        </p:spPr>
        <p:txBody>
          <a:bodyPr wrap="square" anchor="t" lIns="0" rIns="0" tIns="0" bIns="0">
            <a:spAutoFit/>
          </a:bodyPr>
          <a:lstStyle/>
          <a:p>
            <a:pPr algn="l"/>
            <a:r>
              <a:rPr sz="1100" b="0" i="0">
                <a:solidFill>
                  <a:srgbClr val="ECF0F7"/>
                </a:solidFill>
                <a:latin typeface="Calibri"/>
              </a:rPr>
              <a:t>“What jobs match who I am becoming?” — and ultimately: “what do I need to do to get there?”</a:t>
            </a:r>
          </a:p>
        </p:txBody>
      </p:sp>
      <p:sp>
        <p:nvSpPr>
          <p:cNvPr id="14" name="TextBox 13"/>
          <p:cNvSpPr txBox="1"/>
          <p:nvPr/>
        </p:nvSpPr>
        <p:spPr>
          <a:xfrm>
            <a:off x="822960" y="5394960"/>
            <a:ext cx="10515600" cy="457200"/>
          </a:xfrm>
          <a:prstGeom prst="rect">
            <a:avLst/>
          </a:prstGeom>
          <a:noFill/>
        </p:spPr>
        <p:txBody>
          <a:bodyPr wrap="square" anchor="t" lIns="0" rIns="0" tIns="0" bIns="0">
            <a:spAutoFit/>
          </a:bodyPr>
          <a:lstStyle/>
          <a:p>
            <a:pPr algn="ctr"/>
            <a:r>
              <a:rPr sz="1300" b="1" i="0">
                <a:solidFill>
                  <a:srgbClr val="E9A23B"/>
                </a:solidFill>
                <a:latin typeface="Calibri"/>
              </a:rPr>
              <a:t>Drishti = Resume (Past) + Activity (Present) + Aspirations (Future) → Opportunities + Gaps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5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1155680" cy="502920"/>
          </a:xfrm>
          <a:prstGeom prst="rect">
            <a:avLst/>
          </a:prstGeom>
          <a:noFill/>
        </p:spPr>
        <p:txBody>
          <a:bodyPr wrap="square" anchor="t" lIns="0" rIns="0" tIns="0" bIns="0">
            <a:spAutoFit/>
          </a:bodyPr>
          <a:lstStyle/>
          <a:p>
            <a:pPr algn="l"/>
            <a:r>
              <a:rPr sz="2600" b="1" i="0">
                <a:solidFill>
                  <a:srgbClr val="FFFFFF"/>
                </a:solidFill>
                <a:latin typeface="Calibri"/>
              </a:rPr>
              <a:t>The Problem</a:t>
            </a:r>
          </a:p>
        </p:txBody>
      </p:sp>
      <p:sp>
        <p:nvSpPr>
          <p:cNvPr id="4" name="TextBox 3"/>
          <p:cNvSpPr txBox="1"/>
          <p:nvPr/>
        </p:nvSpPr>
        <p:spPr>
          <a:xfrm>
            <a:off x="502920" y="868680"/>
            <a:ext cx="11155680" cy="320040"/>
          </a:xfrm>
          <a:prstGeom prst="rect">
            <a:avLst/>
          </a:prstGeom>
          <a:noFill/>
        </p:spPr>
        <p:txBody>
          <a:bodyPr wrap="square" anchor="t" lIns="0" rIns="0" tIns="0" bIns="0">
            <a:spAutoFit/>
          </a:bodyPr>
          <a:lstStyle/>
          <a:p>
            <a:pPr algn="l"/>
            <a:r>
              <a:rPr sz="1150" b="0" i="1">
                <a:solidFill>
                  <a:srgbClr val="A9B7CC"/>
                </a:solidFill>
                <a:latin typeface="Calibri"/>
              </a:rPr>
              <a:t>The people who need discovery most — candidates in transition — are served worst.</a:t>
            </a:r>
          </a:p>
        </p:txBody>
      </p:sp>
      <p:sp>
        <p:nvSpPr>
          <p:cNvPr id="5" name="TextBox 4"/>
          <p:cNvSpPr txBox="1"/>
          <p:nvPr/>
        </p:nvSpPr>
        <p:spPr>
          <a:xfrm>
            <a:off x="502920" y="6492240"/>
            <a:ext cx="5486400" cy="256032"/>
          </a:xfrm>
          <a:prstGeom prst="rect">
            <a:avLst/>
          </a:prstGeom>
          <a:noFill/>
        </p:spPr>
        <p:txBody>
          <a:bodyPr wrap="square" anchor="t" lIns="0" rIns="0" tIns="0" bIns="0">
            <a:spAutoFit/>
          </a:bodyPr>
          <a:lstStyle/>
          <a:p>
            <a:pPr algn="l"/>
            <a:r>
              <a:rPr sz="850" b="0" i="0">
                <a:solidFill>
                  <a:srgbClr val="A9B7CC"/>
                </a:solidFill>
                <a:latin typeface="Calibri"/>
              </a:rPr>
              <a:t>Drishti · Ushasree Jakilinki</a:t>
            </a:r>
          </a:p>
        </p:txBody>
      </p:sp>
      <p:sp>
        <p:nvSpPr>
          <p:cNvPr id="6" name="TextBox 5"/>
          <p:cNvSpPr txBox="1"/>
          <p:nvPr/>
        </p:nvSpPr>
        <p:spPr>
          <a:xfrm>
            <a:off x="8778240" y="6492240"/>
            <a:ext cx="3017520" cy="256032"/>
          </a:xfrm>
          <a:prstGeom prst="rect">
            <a:avLst/>
          </a:prstGeom>
          <a:noFill/>
        </p:spPr>
        <p:txBody>
          <a:bodyPr wrap="square" anchor="t" lIns="0" rIns="0" tIns="0" bIns="0">
            <a:spAutoFit/>
          </a:bodyPr>
          <a:lstStyle/>
          <a:p>
            <a:pPr algn="r"/>
            <a:r>
              <a:rPr sz="850" b="0" i="0">
                <a:solidFill>
                  <a:srgbClr val="A9B7CC"/>
                </a:solidFill>
                <a:latin typeface="Calibri"/>
              </a:rPr>
              <a:t>3</a:t>
            </a:r>
          </a:p>
        </p:txBody>
      </p:sp>
      <p:sp>
        <p:nvSpPr>
          <p:cNvPr id="7" name="Rounded Rectangle 6"/>
          <p:cNvSpPr/>
          <p:nvPr/>
        </p:nvSpPr>
        <p:spPr>
          <a:xfrm>
            <a:off x="502920" y="1463040"/>
            <a:ext cx="11155680" cy="1371600"/>
          </a:xfrm>
          <a:prstGeom prst="roundRect">
            <a:avLst>
              <a:gd name="adj" fmla="val 10000"/>
            </a:avLst>
          </a:prstGeom>
          <a:solidFill>
            <a:srgbClr val="1E30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04088" y="1600200"/>
            <a:ext cx="10753344" cy="320040"/>
          </a:xfrm>
          <a:prstGeom prst="rect">
            <a:avLst/>
          </a:prstGeom>
          <a:noFill/>
        </p:spPr>
        <p:txBody>
          <a:bodyPr wrap="square" anchor="t" lIns="0" rIns="0" tIns="0" bIns="0">
            <a:spAutoFit/>
          </a:bodyPr>
          <a:lstStyle/>
          <a:p>
            <a:pPr algn="l"/>
            <a:r>
              <a:rPr sz="1200" b="1" i="0">
                <a:solidFill>
                  <a:srgbClr val="E9A23B"/>
                </a:solidFill>
                <a:latin typeface="Calibri"/>
              </a:rPr>
              <a:t>Keyword matching sees only the past</a:t>
            </a:r>
          </a:p>
        </p:txBody>
      </p:sp>
      <p:sp>
        <p:nvSpPr>
          <p:cNvPr id="9" name="TextBox 8"/>
          <p:cNvSpPr txBox="1"/>
          <p:nvPr/>
        </p:nvSpPr>
        <p:spPr>
          <a:xfrm>
            <a:off x="704088" y="1965960"/>
            <a:ext cx="10753344" cy="731520"/>
          </a:xfrm>
          <a:prstGeom prst="rect">
            <a:avLst/>
          </a:prstGeom>
          <a:noFill/>
        </p:spPr>
        <p:txBody>
          <a:bodyPr wrap="square" anchor="t" lIns="0" rIns="0" tIns="0" bIns="0">
            <a:spAutoFit/>
          </a:bodyPr>
          <a:lstStyle/>
          <a:p>
            <a:pPr algn="l"/>
            <a:r>
              <a:rPr sz="1100" b="0" i="0">
                <a:solidFill>
                  <a:srgbClr val="ECF0F7"/>
                </a:solidFill>
                <a:latin typeface="Calibri"/>
              </a:rPr>
              <a:t>Recommendation engines match historical resume data. Career progression, transferable skills, active learning, and aspirations are invisible — so candidates manually review dozens of irrelevant postings.</a:t>
            </a:r>
          </a:p>
        </p:txBody>
      </p:sp>
      <p:sp>
        <p:nvSpPr>
          <p:cNvPr id="10" name="Rounded Rectangle 9"/>
          <p:cNvSpPr/>
          <p:nvPr/>
        </p:nvSpPr>
        <p:spPr>
          <a:xfrm>
            <a:off x="502920" y="3017520"/>
            <a:ext cx="11155680" cy="2194560"/>
          </a:xfrm>
          <a:prstGeom prst="roundRect">
            <a:avLst>
              <a:gd name="adj" fmla="val 10000"/>
            </a:avLst>
          </a:prstGeom>
          <a:solidFill>
            <a:srgbClr val="1E30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4088" y="3154679"/>
            <a:ext cx="10753344" cy="320040"/>
          </a:xfrm>
          <a:prstGeom prst="rect">
            <a:avLst/>
          </a:prstGeom>
          <a:noFill/>
        </p:spPr>
        <p:txBody>
          <a:bodyPr wrap="square" anchor="t" lIns="0" rIns="0" tIns="0" bIns="0">
            <a:spAutoFit/>
          </a:bodyPr>
          <a:lstStyle/>
          <a:p>
            <a:pPr algn="l"/>
            <a:r>
              <a:rPr sz="1200" b="1" i="0">
                <a:solidFill>
                  <a:srgbClr val="E9A23B"/>
                </a:solidFill>
                <a:latin typeface="Calibri"/>
              </a:rPr>
              <a:t>A lived example</a:t>
            </a:r>
          </a:p>
        </p:txBody>
      </p:sp>
      <p:sp>
        <p:nvSpPr>
          <p:cNvPr id="12" name="TextBox 11"/>
          <p:cNvSpPr txBox="1"/>
          <p:nvPr/>
        </p:nvSpPr>
        <p:spPr>
          <a:xfrm>
            <a:off x="704088" y="3520439"/>
            <a:ext cx="10753344" cy="1554480"/>
          </a:xfrm>
          <a:prstGeom prst="rect">
            <a:avLst/>
          </a:prstGeom>
          <a:noFill/>
        </p:spPr>
        <p:txBody>
          <a:bodyPr wrap="square" anchor="t" lIns="0" rIns="0" tIns="0" bIns="0">
            <a:spAutoFit/>
          </a:bodyPr>
          <a:lstStyle/>
          <a:p>
            <a:pPr algn="l"/>
            <a:r>
              <a:rPr sz="1150" b="0" i="0">
                <a:solidFill>
                  <a:srgbClr val="ECF0F7"/>
                </a:solidFill>
                <a:latin typeface="Calibri"/>
              </a:rPr>
              <a:t>A candidate's resume says Product Manager. Meanwhile she is building AI agents, publishing product case studies, studying agentic AI and Responsible AI, and targeting AI Product Management. Every platform keeps recommending... Product Manager roles. The evidence of her transition lives outside the resume — in projects, courses, GitHub, and stated goals — where no engine looks.</a:t>
            </a:r>
          </a:p>
        </p:txBody>
      </p:sp>
      <p:sp>
        <p:nvSpPr>
          <p:cNvPr id="13" name="TextBox 12"/>
          <p:cNvSpPr txBox="1"/>
          <p:nvPr/>
        </p:nvSpPr>
        <p:spPr>
          <a:xfrm>
            <a:off x="502920" y="5486400"/>
            <a:ext cx="11155680" cy="365760"/>
          </a:xfrm>
          <a:prstGeom prst="rect">
            <a:avLst/>
          </a:prstGeom>
          <a:noFill/>
        </p:spPr>
        <p:txBody>
          <a:bodyPr wrap="square" anchor="t" lIns="0" rIns="0" tIns="0" bIns="0">
            <a:spAutoFit/>
          </a:bodyPr>
          <a:lstStyle/>
          <a:p>
            <a:pPr algn="l"/>
            <a:r>
              <a:rPr sz="1100" b="0" i="1">
                <a:solidFill>
                  <a:srgbClr val="A9B7CC"/>
                </a:solidFill>
                <a:latin typeface="Calibri"/>
              </a:rPr>
              <a:t>Result: high effort, low efficiency, and transitions penalized instead of recognized.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5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1155680" cy="502920"/>
          </a:xfrm>
          <a:prstGeom prst="rect">
            <a:avLst/>
          </a:prstGeom>
          <a:noFill/>
        </p:spPr>
        <p:txBody>
          <a:bodyPr wrap="square" anchor="t" lIns="0" rIns="0" tIns="0" bIns="0">
            <a:spAutoFit/>
          </a:bodyPr>
          <a:lstStyle/>
          <a:p>
            <a:pPr algn="l"/>
            <a:r>
              <a:rPr sz="2600" b="1" i="0">
                <a:solidFill>
                  <a:srgbClr val="FFFFFF"/>
                </a:solidFill>
                <a:latin typeface="Calibri"/>
              </a:rPr>
              <a:t>The Insight — Candidate DNA</a:t>
            </a:r>
          </a:p>
        </p:txBody>
      </p:sp>
      <p:sp>
        <p:nvSpPr>
          <p:cNvPr id="4" name="TextBox 3"/>
          <p:cNvSpPr txBox="1"/>
          <p:nvPr/>
        </p:nvSpPr>
        <p:spPr>
          <a:xfrm>
            <a:off x="502920" y="868680"/>
            <a:ext cx="11155680" cy="320040"/>
          </a:xfrm>
          <a:prstGeom prst="rect">
            <a:avLst/>
          </a:prstGeom>
          <a:noFill/>
        </p:spPr>
        <p:txBody>
          <a:bodyPr wrap="square" anchor="t" lIns="0" rIns="0" tIns="0" bIns="0">
            <a:spAutoFit/>
          </a:bodyPr>
          <a:lstStyle/>
          <a:p>
            <a:pPr algn="l"/>
            <a:r>
              <a:rPr sz="1150" b="0" i="1">
                <a:solidFill>
                  <a:srgbClr val="A9B7CC"/>
                </a:solidFill>
                <a:latin typeface="Calibri"/>
              </a:rPr>
              <a:t>Three signal types. Not all career signals have equal value — and none should be ignored.</a:t>
            </a:r>
          </a:p>
        </p:txBody>
      </p:sp>
      <p:sp>
        <p:nvSpPr>
          <p:cNvPr id="5" name="TextBox 4"/>
          <p:cNvSpPr txBox="1"/>
          <p:nvPr/>
        </p:nvSpPr>
        <p:spPr>
          <a:xfrm>
            <a:off x="502920" y="6492240"/>
            <a:ext cx="5486400" cy="256032"/>
          </a:xfrm>
          <a:prstGeom prst="rect">
            <a:avLst/>
          </a:prstGeom>
          <a:noFill/>
        </p:spPr>
        <p:txBody>
          <a:bodyPr wrap="square" anchor="t" lIns="0" rIns="0" tIns="0" bIns="0">
            <a:spAutoFit/>
          </a:bodyPr>
          <a:lstStyle/>
          <a:p>
            <a:pPr algn="l"/>
            <a:r>
              <a:rPr sz="850" b="0" i="0">
                <a:solidFill>
                  <a:srgbClr val="A9B7CC"/>
                </a:solidFill>
                <a:latin typeface="Calibri"/>
              </a:rPr>
              <a:t>Drishti · Ushasree Jakilinki</a:t>
            </a:r>
          </a:p>
        </p:txBody>
      </p:sp>
      <p:sp>
        <p:nvSpPr>
          <p:cNvPr id="6" name="TextBox 5"/>
          <p:cNvSpPr txBox="1"/>
          <p:nvPr/>
        </p:nvSpPr>
        <p:spPr>
          <a:xfrm>
            <a:off x="8778240" y="6492240"/>
            <a:ext cx="3017520" cy="256032"/>
          </a:xfrm>
          <a:prstGeom prst="rect">
            <a:avLst/>
          </a:prstGeom>
          <a:noFill/>
        </p:spPr>
        <p:txBody>
          <a:bodyPr wrap="square" anchor="t" lIns="0" rIns="0" tIns="0" bIns="0">
            <a:spAutoFit/>
          </a:bodyPr>
          <a:lstStyle/>
          <a:p>
            <a:pPr algn="r"/>
            <a:r>
              <a:rPr sz="850" b="0" i="0">
                <a:solidFill>
                  <a:srgbClr val="A9B7CC"/>
                </a:solidFill>
                <a:latin typeface="Calibri"/>
              </a:rPr>
              <a:t>4</a:t>
            </a:r>
          </a:p>
        </p:txBody>
      </p:sp>
      <p:sp>
        <p:nvSpPr>
          <p:cNvPr id="7" name="Rounded Rectangle 6"/>
          <p:cNvSpPr/>
          <p:nvPr/>
        </p:nvSpPr>
        <p:spPr>
          <a:xfrm>
            <a:off x="502920" y="1554480"/>
            <a:ext cx="3703320" cy="3108960"/>
          </a:xfrm>
          <a:prstGeom prst="roundRect">
            <a:avLst>
              <a:gd name="adj" fmla="val 10000"/>
            </a:avLst>
          </a:prstGeom>
          <a:solidFill>
            <a:srgbClr val="1E30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31520" y="1783080"/>
            <a:ext cx="868680" cy="365760"/>
          </a:xfrm>
          <a:prstGeom prst="roundRect">
            <a:avLst>
              <a:gd name="adj" fmla="val 10000"/>
            </a:avLst>
          </a:prstGeom>
          <a:solidFill>
            <a:srgbClr val="273B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828800"/>
            <a:ext cx="868680" cy="274320"/>
          </a:xfrm>
          <a:prstGeom prst="rect">
            <a:avLst/>
          </a:prstGeom>
          <a:noFill/>
        </p:spPr>
        <p:txBody>
          <a:bodyPr wrap="square" anchor="t" lIns="0" rIns="0" tIns="0" bIns="0">
            <a:spAutoFit/>
          </a:bodyPr>
          <a:lstStyle/>
          <a:p>
            <a:pPr algn="ctr"/>
            <a:r>
              <a:rPr sz="1100" b="1" i="0">
                <a:solidFill>
                  <a:srgbClr val="E9A23B"/>
                </a:solidFill>
                <a:latin typeface="Calibri"/>
              </a:rPr>
              <a:t>PAST</a:t>
            </a:r>
          </a:p>
        </p:txBody>
      </p:sp>
      <p:sp>
        <p:nvSpPr>
          <p:cNvPr id="10" name="TextBox 9"/>
          <p:cNvSpPr txBox="1"/>
          <p:nvPr/>
        </p:nvSpPr>
        <p:spPr>
          <a:xfrm>
            <a:off x="731520" y="2331720"/>
            <a:ext cx="3246120" cy="320040"/>
          </a:xfrm>
          <a:prstGeom prst="rect">
            <a:avLst/>
          </a:prstGeom>
          <a:noFill/>
        </p:spPr>
        <p:txBody>
          <a:bodyPr wrap="square" anchor="t" lIns="0" rIns="0" tIns="0" bIns="0">
            <a:spAutoFit/>
          </a:bodyPr>
          <a:lstStyle/>
          <a:p>
            <a:pPr algn="l"/>
            <a:r>
              <a:rPr sz="1350" b="1" i="0">
                <a:solidFill>
                  <a:srgbClr val="FFFFFF"/>
                </a:solidFill>
                <a:latin typeface="Calibri"/>
              </a:rPr>
              <a:t>Historical Signals</a:t>
            </a:r>
          </a:p>
        </p:txBody>
      </p:sp>
      <p:sp>
        <p:nvSpPr>
          <p:cNvPr id="11" name="TextBox 10"/>
          <p:cNvSpPr txBox="1"/>
          <p:nvPr/>
        </p:nvSpPr>
        <p:spPr>
          <a:xfrm>
            <a:off x="731520" y="2697480"/>
            <a:ext cx="3246120" cy="320040"/>
          </a:xfrm>
          <a:prstGeom prst="rect">
            <a:avLst/>
          </a:prstGeom>
          <a:noFill/>
        </p:spPr>
        <p:txBody>
          <a:bodyPr wrap="square" anchor="t" lIns="0" rIns="0" tIns="0" bIns="0">
            <a:spAutoFit/>
          </a:bodyPr>
          <a:lstStyle/>
          <a:p>
            <a:pPr algn="l"/>
            <a:r>
              <a:rPr sz="1000" b="0" i="1">
                <a:solidFill>
                  <a:srgbClr val="E9A23B"/>
                </a:solidFill>
                <a:latin typeface="Calibri"/>
              </a:rPr>
              <a:t>Evidence of proven capability</a:t>
            </a:r>
          </a:p>
        </p:txBody>
      </p:sp>
      <p:sp>
        <p:nvSpPr>
          <p:cNvPr id="12" name="TextBox 11"/>
          <p:cNvSpPr txBox="1"/>
          <p:nvPr/>
        </p:nvSpPr>
        <p:spPr>
          <a:xfrm>
            <a:off x="731520" y="3108960"/>
            <a:ext cx="3246120" cy="1005840"/>
          </a:xfrm>
          <a:prstGeom prst="rect">
            <a:avLst/>
          </a:prstGeom>
          <a:noFill/>
        </p:spPr>
        <p:txBody>
          <a:bodyPr wrap="square" anchor="t" lIns="0" rIns="0" tIns="0" bIns="0">
            <a:spAutoFit/>
          </a:bodyPr>
          <a:lstStyle/>
          <a:p>
            <a:pPr algn="l"/>
            <a:r>
              <a:rPr sz="950" b="0" i="0">
                <a:solidFill>
                  <a:srgbClr val="A9B7CC"/>
                </a:solidFill>
                <a:latin typeface="Calibri"/>
              </a:rPr>
              <a:t>Resume · roles · education · certifications · industries</a:t>
            </a:r>
          </a:p>
        </p:txBody>
      </p:sp>
      <p:sp>
        <p:nvSpPr>
          <p:cNvPr id="13" name="TextBox 12"/>
          <p:cNvSpPr txBox="1"/>
          <p:nvPr/>
        </p:nvSpPr>
        <p:spPr>
          <a:xfrm>
            <a:off x="731520" y="4114800"/>
            <a:ext cx="3246120" cy="365760"/>
          </a:xfrm>
          <a:prstGeom prst="rect">
            <a:avLst/>
          </a:prstGeom>
          <a:noFill/>
        </p:spPr>
        <p:txBody>
          <a:bodyPr wrap="square" anchor="t" lIns="0" rIns="0" tIns="0" bIns="0">
            <a:spAutoFit/>
          </a:bodyPr>
          <a:lstStyle/>
          <a:p>
            <a:pPr algn="l"/>
            <a:r>
              <a:rPr sz="1050" b="1" i="0">
                <a:solidFill>
                  <a:srgbClr val="ECF0F7"/>
                </a:solidFill>
                <a:latin typeface="Calibri"/>
              </a:rPr>
              <a:t>v1 weight: 0.4</a:t>
            </a:r>
          </a:p>
        </p:txBody>
      </p:sp>
      <p:sp>
        <p:nvSpPr>
          <p:cNvPr id="14" name="Rounded Rectangle 13"/>
          <p:cNvSpPr/>
          <p:nvPr/>
        </p:nvSpPr>
        <p:spPr>
          <a:xfrm>
            <a:off x="4453128" y="1554480"/>
            <a:ext cx="3703320" cy="3108960"/>
          </a:xfrm>
          <a:prstGeom prst="roundRect">
            <a:avLst>
              <a:gd name="adj" fmla="val 10000"/>
            </a:avLst>
          </a:prstGeom>
          <a:solidFill>
            <a:srgbClr val="1E30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4681728" y="1783080"/>
            <a:ext cx="868680" cy="365760"/>
          </a:xfrm>
          <a:prstGeom prst="roundRect">
            <a:avLst>
              <a:gd name="adj" fmla="val 10000"/>
            </a:avLst>
          </a:prstGeom>
          <a:solidFill>
            <a:srgbClr val="273B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81728" y="1828800"/>
            <a:ext cx="868680" cy="274320"/>
          </a:xfrm>
          <a:prstGeom prst="rect">
            <a:avLst/>
          </a:prstGeom>
          <a:noFill/>
        </p:spPr>
        <p:txBody>
          <a:bodyPr wrap="square" anchor="t" lIns="0" rIns="0" tIns="0" bIns="0">
            <a:spAutoFit/>
          </a:bodyPr>
          <a:lstStyle/>
          <a:p>
            <a:pPr algn="ctr"/>
            <a:r>
              <a:rPr sz="1100" b="1" i="0">
                <a:solidFill>
                  <a:srgbClr val="E9A23B"/>
                </a:solidFill>
                <a:latin typeface="Calibri"/>
              </a:rPr>
              <a:t>NOW</a:t>
            </a:r>
          </a:p>
        </p:txBody>
      </p:sp>
      <p:sp>
        <p:nvSpPr>
          <p:cNvPr id="17" name="TextBox 16"/>
          <p:cNvSpPr txBox="1"/>
          <p:nvPr/>
        </p:nvSpPr>
        <p:spPr>
          <a:xfrm>
            <a:off x="4681728" y="2331720"/>
            <a:ext cx="3246120" cy="320040"/>
          </a:xfrm>
          <a:prstGeom prst="rect">
            <a:avLst/>
          </a:prstGeom>
          <a:noFill/>
        </p:spPr>
        <p:txBody>
          <a:bodyPr wrap="square" anchor="t" lIns="0" rIns="0" tIns="0" bIns="0">
            <a:spAutoFit/>
          </a:bodyPr>
          <a:lstStyle/>
          <a:p>
            <a:pPr algn="l"/>
            <a:r>
              <a:rPr sz="1350" b="1" i="0">
                <a:solidFill>
                  <a:srgbClr val="FFFFFF"/>
                </a:solidFill>
                <a:latin typeface="Calibri"/>
              </a:rPr>
              <a:t>Current Signals</a:t>
            </a:r>
          </a:p>
        </p:txBody>
      </p:sp>
      <p:sp>
        <p:nvSpPr>
          <p:cNvPr id="18" name="TextBox 17"/>
          <p:cNvSpPr txBox="1"/>
          <p:nvPr/>
        </p:nvSpPr>
        <p:spPr>
          <a:xfrm>
            <a:off x="4681728" y="2697480"/>
            <a:ext cx="3246120" cy="320040"/>
          </a:xfrm>
          <a:prstGeom prst="rect">
            <a:avLst/>
          </a:prstGeom>
          <a:noFill/>
        </p:spPr>
        <p:txBody>
          <a:bodyPr wrap="square" anchor="t" lIns="0" rIns="0" tIns="0" bIns="0">
            <a:spAutoFit/>
          </a:bodyPr>
          <a:lstStyle/>
          <a:p>
            <a:pPr algn="l"/>
            <a:r>
              <a:rPr sz="1000" b="0" i="1">
                <a:solidFill>
                  <a:srgbClr val="E9A23B"/>
                </a:solidFill>
                <a:latin typeface="Calibri"/>
              </a:rPr>
              <a:t>Evidence of active skill development</a:t>
            </a:r>
          </a:p>
        </p:txBody>
      </p:sp>
      <p:sp>
        <p:nvSpPr>
          <p:cNvPr id="19" name="TextBox 18"/>
          <p:cNvSpPr txBox="1"/>
          <p:nvPr/>
        </p:nvSpPr>
        <p:spPr>
          <a:xfrm>
            <a:off x="4681728" y="3108960"/>
            <a:ext cx="3246120" cy="1005840"/>
          </a:xfrm>
          <a:prstGeom prst="rect">
            <a:avLst/>
          </a:prstGeom>
          <a:noFill/>
        </p:spPr>
        <p:txBody>
          <a:bodyPr wrap="square" anchor="t" lIns="0" rIns="0" tIns="0" bIns="0">
            <a:spAutoFit/>
          </a:bodyPr>
          <a:lstStyle/>
          <a:p>
            <a:pPr algn="l"/>
            <a:r>
              <a:rPr sz="950" b="0" i="0">
                <a:solidFill>
                  <a:srgbClr val="A9B7CC"/>
                </a:solidFill>
                <a:latin typeface="Calibri"/>
              </a:rPr>
              <a:t>Projects · courses · GitHub · portfolio · learning activities</a:t>
            </a:r>
          </a:p>
        </p:txBody>
      </p:sp>
      <p:sp>
        <p:nvSpPr>
          <p:cNvPr id="20" name="TextBox 19"/>
          <p:cNvSpPr txBox="1"/>
          <p:nvPr/>
        </p:nvSpPr>
        <p:spPr>
          <a:xfrm>
            <a:off x="4681728" y="4114800"/>
            <a:ext cx="3246120" cy="365760"/>
          </a:xfrm>
          <a:prstGeom prst="rect">
            <a:avLst/>
          </a:prstGeom>
          <a:noFill/>
        </p:spPr>
        <p:txBody>
          <a:bodyPr wrap="square" anchor="t" lIns="0" rIns="0" tIns="0" bIns="0">
            <a:spAutoFit/>
          </a:bodyPr>
          <a:lstStyle/>
          <a:p>
            <a:pPr algn="l"/>
            <a:r>
              <a:rPr sz="1050" b="1" i="0">
                <a:solidFill>
                  <a:srgbClr val="ECF0F7"/>
                </a:solidFill>
                <a:latin typeface="Calibri"/>
              </a:rPr>
              <a:t>v1 weight: 0.3</a:t>
            </a:r>
          </a:p>
        </p:txBody>
      </p:sp>
      <p:sp>
        <p:nvSpPr>
          <p:cNvPr id="21" name="Rounded Rectangle 20"/>
          <p:cNvSpPr/>
          <p:nvPr/>
        </p:nvSpPr>
        <p:spPr>
          <a:xfrm>
            <a:off x="8403336" y="1554480"/>
            <a:ext cx="3703320" cy="3108960"/>
          </a:xfrm>
          <a:prstGeom prst="roundRect">
            <a:avLst>
              <a:gd name="adj" fmla="val 10000"/>
            </a:avLst>
          </a:prstGeom>
          <a:solidFill>
            <a:srgbClr val="1E30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8631936" y="1783080"/>
            <a:ext cx="868680" cy="365760"/>
          </a:xfrm>
          <a:prstGeom prst="roundRect">
            <a:avLst>
              <a:gd name="adj" fmla="val 10000"/>
            </a:avLst>
          </a:prstGeom>
          <a:solidFill>
            <a:srgbClr val="273B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631936" y="1828800"/>
            <a:ext cx="868680" cy="274320"/>
          </a:xfrm>
          <a:prstGeom prst="rect">
            <a:avLst/>
          </a:prstGeom>
          <a:noFill/>
        </p:spPr>
        <p:txBody>
          <a:bodyPr wrap="square" anchor="t" lIns="0" rIns="0" tIns="0" bIns="0">
            <a:spAutoFit/>
          </a:bodyPr>
          <a:lstStyle/>
          <a:p>
            <a:pPr algn="ctr"/>
            <a:r>
              <a:rPr sz="1100" b="1" i="0">
                <a:solidFill>
                  <a:srgbClr val="E9A23B"/>
                </a:solidFill>
                <a:latin typeface="Calibri"/>
              </a:rPr>
              <a:t>NEXT</a:t>
            </a:r>
          </a:p>
        </p:txBody>
      </p:sp>
      <p:sp>
        <p:nvSpPr>
          <p:cNvPr id="24" name="TextBox 23"/>
          <p:cNvSpPr txBox="1"/>
          <p:nvPr/>
        </p:nvSpPr>
        <p:spPr>
          <a:xfrm>
            <a:off x="8631936" y="2331720"/>
            <a:ext cx="3246120" cy="320040"/>
          </a:xfrm>
          <a:prstGeom prst="rect">
            <a:avLst/>
          </a:prstGeom>
          <a:noFill/>
        </p:spPr>
        <p:txBody>
          <a:bodyPr wrap="square" anchor="t" lIns="0" rIns="0" tIns="0" bIns="0">
            <a:spAutoFit/>
          </a:bodyPr>
          <a:lstStyle/>
          <a:p>
            <a:pPr algn="l"/>
            <a:r>
              <a:rPr sz="1350" b="1" i="0">
                <a:solidFill>
                  <a:srgbClr val="FFFFFF"/>
                </a:solidFill>
                <a:latin typeface="Calibri"/>
              </a:rPr>
              <a:t>Intent Signals</a:t>
            </a:r>
          </a:p>
        </p:txBody>
      </p:sp>
      <p:sp>
        <p:nvSpPr>
          <p:cNvPr id="25" name="TextBox 24"/>
          <p:cNvSpPr txBox="1"/>
          <p:nvPr/>
        </p:nvSpPr>
        <p:spPr>
          <a:xfrm>
            <a:off x="8631936" y="2697480"/>
            <a:ext cx="3246120" cy="320040"/>
          </a:xfrm>
          <a:prstGeom prst="rect">
            <a:avLst/>
          </a:prstGeom>
          <a:noFill/>
        </p:spPr>
        <p:txBody>
          <a:bodyPr wrap="square" anchor="t" lIns="0" rIns="0" tIns="0" bIns="0">
            <a:spAutoFit/>
          </a:bodyPr>
          <a:lstStyle/>
          <a:p>
            <a:pPr algn="l"/>
            <a:r>
              <a:rPr sz="1000" b="0" i="1">
                <a:solidFill>
                  <a:srgbClr val="E9A23B"/>
                </a:solidFill>
                <a:latin typeface="Calibri"/>
              </a:rPr>
              <a:t>Evidence of future direction</a:t>
            </a:r>
          </a:p>
        </p:txBody>
      </p:sp>
      <p:sp>
        <p:nvSpPr>
          <p:cNvPr id="26" name="TextBox 25"/>
          <p:cNvSpPr txBox="1"/>
          <p:nvPr/>
        </p:nvSpPr>
        <p:spPr>
          <a:xfrm>
            <a:off x="8631936" y="3108960"/>
            <a:ext cx="3246120" cy="1005840"/>
          </a:xfrm>
          <a:prstGeom prst="rect">
            <a:avLst/>
          </a:prstGeom>
          <a:noFill/>
        </p:spPr>
        <p:txBody>
          <a:bodyPr wrap="square" anchor="t" lIns="0" rIns="0" tIns="0" bIns="0">
            <a:spAutoFit/>
          </a:bodyPr>
          <a:lstStyle/>
          <a:p>
            <a:pPr algn="l"/>
            <a:r>
              <a:rPr sz="950" b="0" i="0">
                <a:solidFill>
                  <a:srgbClr val="A9B7CC"/>
                </a:solidFill>
                <a:latin typeface="Calibri"/>
              </a:rPr>
              <a:t>Target roles · career goals · interests · desired technologies</a:t>
            </a:r>
          </a:p>
        </p:txBody>
      </p:sp>
      <p:sp>
        <p:nvSpPr>
          <p:cNvPr id="27" name="TextBox 26"/>
          <p:cNvSpPr txBox="1"/>
          <p:nvPr/>
        </p:nvSpPr>
        <p:spPr>
          <a:xfrm>
            <a:off x="8631936" y="4114800"/>
            <a:ext cx="3246120" cy="365760"/>
          </a:xfrm>
          <a:prstGeom prst="rect">
            <a:avLst/>
          </a:prstGeom>
          <a:noFill/>
        </p:spPr>
        <p:txBody>
          <a:bodyPr wrap="square" anchor="t" lIns="0" rIns="0" tIns="0" bIns="0">
            <a:spAutoFit/>
          </a:bodyPr>
          <a:lstStyle/>
          <a:p>
            <a:pPr algn="l"/>
            <a:r>
              <a:rPr sz="1050" b="1" i="0">
                <a:solidFill>
                  <a:srgbClr val="ECF0F7"/>
                </a:solidFill>
                <a:latin typeface="Calibri"/>
              </a:rPr>
              <a:t>v1 weight: 0.3</a:t>
            </a:r>
          </a:p>
        </p:txBody>
      </p:sp>
      <p:sp>
        <p:nvSpPr>
          <p:cNvPr id="28" name="TextBox 27"/>
          <p:cNvSpPr txBox="1"/>
          <p:nvPr/>
        </p:nvSpPr>
        <p:spPr>
          <a:xfrm>
            <a:off x="502920" y="4937760"/>
            <a:ext cx="11155680" cy="548640"/>
          </a:xfrm>
          <a:prstGeom prst="rect">
            <a:avLst/>
          </a:prstGeom>
          <a:noFill/>
        </p:spPr>
        <p:txBody>
          <a:bodyPr wrap="square" anchor="t" lIns="0" rIns="0" tIns="0" bIns="0">
            <a:spAutoFit/>
          </a:bodyPr>
          <a:lstStyle/>
          <a:p>
            <a:pPr algn="ctr"/>
            <a:r>
              <a:rPr sz="1150" b="0" i="0">
                <a:solidFill>
                  <a:srgbClr val="ECF0F7"/>
                </a:solidFill>
                <a:latin typeface="Calibri"/>
              </a:rPr>
              <a:t>Weighted together into a single Drishti Score — the weights themselves are a tunable experiment, refined by user feedback.</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5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1155680" cy="502920"/>
          </a:xfrm>
          <a:prstGeom prst="rect">
            <a:avLst/>
          </a:prstGeom>
          <a:noFill/>
        </p:spPr>
        <p:txBody>
          <a:bodyPr wrap="square" anchor="t" lIns="0" rIns="0" tIns="0" bIns="0">
            <a:spAutoFit/>
          </a:bodyPr>
          <a:lstStyle/>
          <a:p>
            <a:pPr algn="l"/>
            <a:r>
              <a:rPr sz="2600" b="1" i="0">
                <a:solidFill>
                  <a:srgbClr val="FFFFFF"/>
                </a:solidFill>
                <a:latin typeface="Calibri"/>
              </a:rPr>
              <a:t>Drishti v1 — A Deliberately Thin Slice</a:t>
            </a:r>
          </a:p>
        </p:txBody>
      </p:sp>
      <p:sp>
        <p:nvSpPr>
          <p:cNvPr id="4" name="TextBox 3"/>
          <p:cNvSpPr txBox="1"/>
          <p:nvPr/>
        </p:nvSpPr>
        <p:spPr>
          <a:xfrm>
            <a:off x="502920" y="868680"/>
            <a:ext cx="11155680" cy="320040"/>
          </a:xfrm>
          <a:prstGeom prst="rect">
            <a:avLst/>
          </a:prstGeom>
          <a:noFill/>
        </p:spPr>
        <p:txBody>
          <a:bodyPr wrap="square" anchor="t" lIns="0" rIns="0" tIns="0" bIns="0">
            <a:spAutoFit/>
          </a:bodyPr>
          <a:lstStyle/>
          <a:p>
            <a:pPr algn="l"/>
            <a:r>
              <a:rPr sz="1150" b="0" i="1">
                <a:solidFill>
                  <a:srgbClr val="A9B7CC"/>
                </a:solidFill>
                <a:latin typeface="Calibri"/>
              </a:rPr>
              <a:t>Prove the thesis end-to-end before adding anything. One user, local data, no APIs.</a:t>
            </a:r>
          </a:p>
        </p:txBody>
      </p:sp>
      <p:sp>
        <p:nvSpPr>
          <p:cNvPr id="5" name="TextBox 4"/>
          <p:cNvSpPr txBox="1"/>
          <p:nvPr/>
        </p:nvSpPr>
        <p:spPr>
          <a:xfrm>
            <a:off x="502920" y="6492240"/>
            <a:ext cx="5486400" cy="256032"/>
          </a:xfrm>
          <a:prstGeom prst="rect">
            <a:avLst/>
          </a:prstGeom>
          <a:noFill/>
        </p:spPr>
        <p:txBody>
          <a:bodyPr wrap="square" anchor="t" lIns="0" rIns="0" tIns="0" bIns="0">
            <a:spAutoFit/>
          </a:bodyPr>
          <a:lstStyle/>
          <a:p>
            <a:pPr algn="l"/>
            <a:r>
              <a:rPr sz="850" b="0" i="0">
                <a:solidFill>
                  <a:srgbClr val="A9B7CC"/>
                </a:solidFill>
                <a:latin typeface="Calibri"/>
              </a:rPr>
              <a:t>Drishti · Ushasree Jakilinki</a:t>
            </a:r>
          </a:p>
        </p:txBody>
      </p:sp>
      <p:sp>
        <p:nvSpPr>
          <p:cNvPr id="6" name="TextBox 5"/>
          <p:cNvSpPr txBox="1"/>
          <p:nvPr/>
        </p:nvSpPr>
        <p:spPr>
          <a:xfrm>
            <a:off x="8778240" y="6492240"/>
            <a:ext cx="3017520" cy="256032"/>
          </a:xfrm>
          <a:prstGeom prst="rect">
            <a:avLst/>
          </a:prstGeom>
          <a:noFill/>
        </p:spPr>
        <p:txBody>
          <a:bodyPr wrap="square" anchor="t" lIns="0" rIns="0" tIns="0" bIns="0">
            <a:spAutoFit/>
          </a:bodyPr>
          <a:lstStyle/>
          <a:p>
            <a:pPr algn="r"/>
            <a:r>
              <a:rPr sz="850" b="0" i="0">
                <a:solidFill>
                  <a:srgbClr val="A9B7CC"/>
                </a:solidFill>
                <a:latin typeface="Calibri"/>
              </a:rPr>
              <a:t>5</a:t>
            </a:r>
          </a:p>
        </p:txBody>
      </p:sp>
      <p:sp>
        <p:nvSpPr>
          <p:cNvPr id="7" name="Rounded Rectangle 6"/>
          <p:cNvSpPr/>
          <p:nvPr/>
        </p:nvSpPr>
        <p:spPr>
          <a:xfrm>
            <a:off x="502920" y="1463040"/>
            <a:ext cx="5440680" cy="4023360"/>
          </a:xfrm>
          <a:prstGeom prst="roundRect">
            <a:avLst>
              <a:gd name="adj" fmla="val 10000"/>
            </a:avLst>
          </a:prstGeom>
          <a:solidFill>
            <a:srgbClr val="1E30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04088" y="1600200"/>
            <a:ext cx="5038344" cy="320040"/>
          </a:xfrm>
          <a:prstGeom prst="rect">
            <a:avLst/>
          </a:prstGeom>
          <a:noFill/>
        </p:spPr>
        <p:txBody>
          <a:bodyPr wrap="square" anchor="t" lIns="0" rIns="0" tIns="0" bIns="0">
            <a:spAutoFit/>
          </a:bodyPr>
          <a:lstStyle/>
          <a:p>
            <a:pPr algn="l"/>
            <a:r>
              <a:rPr sz="1200" b="1" i="0">
                <a:solidFill>
                  <a:srgbClr val="E9A23B"/>
                </a:solidFill>
                <a:latin typeface="Calibri"/>
              </a:rPr>
              <a:t>IN — v1</a:t>
            </a:r>
          </a:p>
        </p:txBody>
      </p:sp>
      <p:sp>
        <p:nvSpPr>
          <p:cNvPr id="9" name="TextBox 8"/>
          <p:cNvSpPr txBox="1"/>
          <p:nvPr/>
        </p:nvSpPr>
        <p:spPr>
          <a:xfrm>
            <a:off x="704088" y="1965960"/>
            <a:ext cx="5038344" cy="3383280"/>
          </a:xfrm>
          <a:prstGeom prst="rect">
            <a:avLst/>
          </a:prstGeom>
          <a:noFill/>
        </p:spPr>
        <p:txBody>
          <a:bodyPr wrap="square" anchor="t" lIns="0" rIns="0" tIns="0" bIns="0">
            <a:spAutoFit/>
          </a:bodyPr>
          <a:lstStyle/>
          <a:p>
            <a:pPr algn="l"/>
            <a:r>
              <a:rPr sz="1050" b="0" i="0">
                <a:solidFill>
                  <a:srgbClr val="ECF0F7"/>
                </a:solidFill>
                <a:latin typeface="Calibri"/>
              </a:rPr>
              <a:t>• Resume upload &amp; parsing (PDF/DOCX) with a user validation step
• Signals form: courses, projects, links, target roles, goals
• Career Trajectory Profile (JSON data contract)
• Curated local dataset: 100–300 JDs in 1–2 target domains
• Past / Present / Future scoring → Drishti Score
• Explanations across all three signals + gap analysis
• Feedback: “Would you apply?” Yes / No / Maybe</a:t>
            </a:r>
          </a:p>
        </p:txBody>
      </p:sp>
      <p:sp>
        <p:nvSpPr>
          <p:cNvPr id="10" name="Rounded Rectangle 9"/>
          <p:cNvSpPr/>
          <p:nvPr/>
        </p:nvSpPr>
        <p:spPr>
          <a:xfrm>
            <a:off x="6217920" y="1463040"/>
            <a:ext cx="5440680" cy="4023360"/>
          </a:xfrm>
          <a:prstGeom prst="roundRect">
            <a:avLst>
              <a:gd name="adj" fmla="val 10000"/>
            </a:avLst>
          </a:prstGeom>
          <a:solidFill>
            <a:srgbClr val="1E30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19088" y="1600200"/>
            <a:ext cx="5038344" cy="320040"/>
          </a:xfrm>
          <a:prstGeom prst="rect">
            <a:avLst/>
          </a:prstGeom>
          <a:noFill/>
        </p:spPr>
        <p:txBody>
          <a:bodyPr wrap="square" anchor="t" lIns="0" rIns="0" tIns="0" bIns="0">
            <a:spAutoFit/>
          </a:bodyPr>
          <a:lstStyle/>
          <a:p>
            <a:pPr algn="l"/>
            <a:r>
              <a:rPr sz="1200" b="1" i="0">
                <a:solidFill>
                  <a:srgbClr val="E9A23B"/>
                </a:solidFill>
                <a:latin typeface="Calibri"/>
              </a:rPr>
              <a:t>OUT — parked, not abandoned</a:t>
            </a:r>
          </a:p>
        </p:txBody>
      </p:sp>
      <p:sp>
        <p:nvSpPr>
          <p:cNvPr id="12" name="TextBox 11"/>
          <p:cNvSpPr txBox="1"/>
          <p:nvPr/>
        </p:nvSpPr>
        <p:spPr>
          <a:xfrm>
            <a:off x="6419088" y="1965960"/>
            <a:ext cx="5038344" cy="3383280"/>
          </a:xfrm>
          <a:prstGeom prst="rect">
            <a:avLst/>
          </a:prstGeom>
          <a:noFill/>
        </p:spPr>
        <p:txBody>
          <a:bodyPr wrap="square" anchor="t" lIns="0" rIns="0" tIns="0" bIns="0">
            <a:spAutoFit/>
          </a:bodyPr>
          <a:lstStyle/>
          <a:p>
            <a:pPr algn="l"/>
            <a:r>
              <a:rPr sz="1050" b="0" i="0">
                <a:solidFill>
                  <a:srgbClr val="ECF0F7"/>
                </a:solidFill>
                <a:latin typeface="Calibri"/>
              </a:rPr>
              <a:t>• Live job APIs (USAJobs, Adzuna, Jooble, RemoteOK, Remotive)
• Multi-agent orchestration (Phase 3, when it becomes the lesson)
• Automated applications &amp; resume rewriting
• Career roadmap generation &amp; progress tracking
• Multi-user / SaaS platform
• Enterprise integrations
Backlog discipline: ideas are documented, not built.</a:t>
            </a:r>
          </a:p>
        </p:txBody>
      </p:sp>
      <p:sp>
        <p:nvSpPr>
          <p:cNvPr id="13" name="TextBox 12"/>
          <p:cNvSpPr txBox="1"/>
          <p:nvPr/>
        </p:nvSpPr>
        <p:spPr>
          <a:xfrm>
            <a:off x="502920" y="5669280"/>
            <a:ext cx="11155680" cy="365760"/>
          </a:xfrm>
          <a:prstGeom prst="rect">
            <a:avLst/>
          </a:prstGeom>
          <a:noFill/>
        </p:spPr>
        <p:txBody>
          <a:bodyPr wrap="square" anchor="t" lIns="0" rIns="0" tIns="0" bIns="0">
            <a:spAutoFit/>
          </a:bodyPr>
          <a:lstStyle/>
          <a:p>
            <a:pPr algn="l"/>
            <a:r>
              <a:rPr sz="1050" b="0" i="1">
                <a:solidFill>
                  <a:srgbClr val="A9B7CC"/>
                </a:solidFill>
                <a:latin typeface="Calibri"/>
              </a:rPr>
              <a:t>Scope-creep is a named risk — observed personally during discovery. The backlog absorbs it.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5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1155680" cy="502920"/>
          </a:xfrm>
          <a:prstGeom prst="rect">
            <a:avLst/>
          </a:prstGeom>
          <a:noFill/>
        </p:spPr>
        <p:txBody>
          <a:bodyPr wrap="square" anchor="t" lIns="0" rIns="0" tIns="0" bIns="0">
            <a:spAutoFit/>
          </a:bodyPr>
          <a:lstStyle/>
          <a:p>
            <a:pPr algn="l"/>
            <a:r>
              <a:rPr sz="2600" b="1" i="0">
                <a:solidFill>
                  <a:srgbClr val="FFFFFF"/>
                </a:solidFill>
                <a:latin typeface="Calibri"/>
              </a:rPr>
              <a:t>v1 Architecture — Modules First, Agents Later</a:t>
            </a:r>
          </a:p>
        </p:txBody>
      </p:sp>
      <p:sp>
        <p:nvSpPr>
          <p:cNvPr id="4" name="TextBox 3"/>
          <p:cNvSpPr txBox="1"/>
          <p:nvPr/>
        </p:nvSpPr>
        <p:spPr>
          <a:xfrm>
            <a:off x="502920" y="6492240"/>
            <a:ext cx="5486400" cy="256032"/>
          </a:xfrm>
          <a:prstGeom prst="rect">
            <a:avLst/>
          </a:prstGeom>
          <a:noFill/>
        </p:spPr>
        <p:txBody>
          <a:bodyPr wrap="square" anchor="t" lIns="0" rIns="0" tIns="0" bIns="0">
            <a:spAutoFit/>
          </a:bodyPr>
          <a:lstStyle/>
          <a:p>
            <a:pPr algn="l"/>
            <a:r>
              <a:rPr sz="850" b="0" i="0">
                <a:solidFill>
                  <a:srgbClr val="A9B7CC"/>
                </a:solidFill>
                <a:latin typeface="Calibri"/>
              </a:rPr>
              <a:t>Drishti · Ushasree Jakilinki</a:t>
            </a:r>
          </a:p>
        </p:txBody>
      </p:sp>
      <p:sp>
        <p:nvSpPr>
          <p:cNvPr id="5" name="TextBox 4"/>
          <p:cNvSpPr txBox="1"/>
          <p:nvPr/>
        </p:nvSpPr>
        <p:spPr>
          <a:xfrm>
            <a:off x="8778240" y="6492240"/>
            <a:ext cx="3017520" cy="256032"/>
          </a:xfrm>
          <a:prstGeom prst="rect">
            <a:avLst/>
          </a:prstGeom>
          <a:noFill/>
        </p:spPr>
        <p:txBody>
          <a:bodyPr wrap="square" anchor="t" lIns="0" rIns="0" tIns="0" bIns="0">
            <a:spAutoFit/>
          </a:bodyPr>
          <a:lstStyle/>
          <a:p>
            <a:pPr algn="r"/>
            <a:r>
              <a:rPr sz="850" b="0" i="0">
                <a:solidFill>
                  <a:srgbClr val="A9B7CC"/>
                </a:solidFill>
                <a:latin typeface="Calibri"/>
              </a:rPr>
              <a:t>6</a:t>
            </a:r>
          </a:p>
        </p:txBody>
      </p:sp>
      <p:sp>
        <p:nvSpPr>
          <p:cNvPr id="6" name="Rounded Rectangle 5"/>
          <p:cNvSpPr/>
          <p:nvPr/>
        </p:nvSpPr>
        <p:spPr>
          <a:xfrm>
            <a:off x="365760" y="1645920"/>
            <a:ext cx="2212848" cy="1828800"/>
          </a:xfrm>
          <a:prstGeom prst="roundRect">
            <a:avLst>
              <a:gd name="adj" fmla="val 10000"/>
            </a:avLst>
          </a:prstGeom>
          <a:solidFill>
            <a:srgbClr val="1E30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75488" y="1783080"/>
            <a:ext cx="1993392" cy="594360"/>
          </a:xfrm>
          <a:prstGeom prst="rect">
            <a:avLst/>
          </a:prstGeom>
          <a:noFill/>
        </p:spPr>
        <p:txBody>
          <a:bodyPr wrap="square" anchor="t" lIns="0" rIns="0" tIns="0" bIns="0">
            <a:spAutoFit/>
          </a:bodyPr>
          <a:lstStyle/>
          <a:p>
            <a:pPr algn="ctr"/>
            <a:r>
              <a:rPr sz="1100" b="1" i="0">
                <a:solidFill>
                  <a:srgbClr val="E9A23B"/>
                </a:solidFill>
                <a:latin typeface="Calibri"/>
              </a:rPr>
              <a:t>Trajectory Intelligence</a:t>
            </a:r>
          </a:p>
        </p:txBody>
      </p:sp>
      <p:sp>
        <p:nvSpPr>
          <p:cNvPr id="8" name="TextBox 7"/>
          <p:cNvSpPr txBox="1"/>
          <p:nvPr/>
        </p:nvSpPr>
        <p:spPr>
          <a:xfrm>
            <a:off x="475488" y="2377440"/>
            <a:ext cx="1993392" cy="1005840"/>
          </a:xfrm>
          <a:prstGeom prst="rect">
            <a:avLst/>
          </a:prstGeom>
          <a:noFill/>
        </p:spPr>
        <p:txBody>
          <a:bodyPr wrap="square" anchor="t" lIns="0" rIns="0" tIns="0" bIns="0">
            <a:spAutoFit/>
          </a:bodyPr>
          <a:lstStyle/>
          <a:p>
            <a:pPr algn="ctr"/>
            <a:r>
              <a:rPr sz="850" b="0" i="0">
                <a:solidFill>
                  <a:srgbClr val="ECF0F7"/>
                </a:solidFill>
                <a:latin typeface="Calibri"/>
              </a:rPr>
              <a:t>Resume + signals → Career Trajectory Profile (JSON)</a:t>
            </a:r>
          </a:p>
        </p:txBody>
      </p:sp>
      <p:sp>
        <p:nvSpPr>
          <p:cNvPr id="9" name="TextBox 8"/>
          <p:cNvSpPr txBox="1"/>
          <p:nvPr/>
        </p:nvSpPr>
        <p:spPr>
          <a:xfrm>
            <a:off x="2560320" y="2331720"/>
            <a:ext cx="274320" cy="365760"/>
          </a:xfrm>
          <a:prstGeom prst="rect">
            <a:avLst/>
          </a:prstGeom>
          <a:noFill/>
        </p:spPr>
        <p:txBody>
          <a:bodyPr wrap="square" anchor="t" lIns="0" rIns="0" tIns="0" bIns="0">
            <a:spAutoFit/>
          </a:bodyPr>
          <a:lstStyle/>
          <a:p>
            <a:pPr algn="l"/>
            <a:r>
              <a:rPr sz="1600" b="1" i="0">
                <a:solidFill>
                  <a:srgbClr val="E9A23B"/>
                </a:solidFill>
                <a:latin typeface="Calibri"/>
              </a:rPr>
              <a:t>→</a:t>
            </a:r>
          </a:p>
        </p:txBody>
      </p:sp>
      <p:sp>
        <p:nvSpPr>
          <p:cNvPr id="10" name="Rounded Rectangle 9"/>
          <p:cNvSpPr/>
          <p:nvPr/>
        </p:nvSpPr>
        <p:spPr>
          <a:xfrm>
            <a:off x="2761488" y="1645920"/>
            <a:ext cx="2212848" cy="1828800"/>
          </a:xfrm>
          <a:prstGeom prst="roundRect">
            <a:avLst>
              <a:gd name="adj" fmla="val 10000"/>
            </a:avLst>
          </a:prstGeom>
          <a:solidFill>
            <a:srgbClr val="1E30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871216" y="1783080"/>
            <a:ext cx="1993392" cy="594360"/>
          </a:xfrm>
          <a:prstGeom prst="rect">
            <a:avLst/>
          </a:prstGeom>
          <a:noFill/>
        </p:spPr>
        <p:txBody>
          <a:bodyPr wrap="square" anchor="t" lIns="0" rIns="0" tIns="0" bIns="0">
            <a:spAutoFit/>
          </a:bodyPr>
          <a:lstStyle/>
          <a:p>
            <a:pPr algn="ctr"/>
            <a:r>
              <a:rPr sz="1100" b="1" i="0">
                <a:solidFill>
                  <a:srgbClr val="E9A23B"/>
                </a:solidFill>
                <a:latin typeface="Calibri"/>
              </a:rPr>
              <a:t>Job Inventory</a:t>
            </a:r>
          </a:p>
        </p:txBody>
      </p:sp>
      <p:sp>
        <p:nvSpPr>
          <p:cNvPr id="12" name="TextBox 11"/>
          <p:cNvSpPr txBox="1"/>
          <p:nvPr/>
        </p:nvSpPr>
        <p:spPr>
          <a:xfrm>
            <a:off x="2871216" y="2377440"/>
            <a:ext cx="1993392" cy="1005840"/>
          </a:xfrm>
          <a:prstGeom prst="rect">
            <a:avLst/>
          </a:prstGeom>
          <a:noFill/>
        </p:spPr>
        <p:txBody>
          <a:bodyPr wrap="square" anchor="t" lIns="0" rIns="0" tIns="0" bIns="0">
            <a:spAutoFit/>
          </a:bodyPr>
          <a:lstStyle/>
          <a:p>
            <a:pPr algn="ctr"/>
            <a:r>
              <a:rPr sz="850" b="0" i="0">
                <a:solidFill>
                  <a:srgbClr val="ECF0F7"/>
                </a:solidFill>
                <a:latin typeface="Calibri"/>
              </a:rPr>
              <a:t>Curated local JDs — SQLite + ChromaDB embeddings</a:t>
            </a:r>
          </a:p>
        </p:txBody>
      </p:sp>
      <p:sp>
        <p:nvSpPr>
          <p:cNvPr id="13" name="TextBox 12"/>
          <p:cNvSpPr txBox="1"/>
          <p:nvPr/>
        </p:nvSpPr>
        <p:spPr>
          <a:xfrm>
            <a:off x="4956048" y="2331720"/>
            <a:ext cx="274320" cy="365760"/>
          </a:xfrm>
          <a:prstGeom prst="rect">
            <a:avLst/>
          </a:prstGeom>
          <a:noFill/>
        </p:spPr>
        <p:txBody>
          <a:bodyPr wrap="square" anchor="t" lIns="0" rIns="0" tIns="0" bIns="0">
            <a:spAutoFit/>
          </a:bodyPr>
          <a:lstStyle/>
          <a:p>
            <a:pPr algn="l"/>
            <a:r>
              <a:rPr sz="1600" b="1" i="0">
                <a:solidFill>
                  <a:srgbClr val="E9A23B"/>
                </a:solidFill>
                <a:latin typeface="Calibri"/>
              </a:rPr>
              <a:t>→</a:t>
            </a:r>
          </a:p>
        </p:txBody>
      </p:sp>
      <p:sp>
        <p:nvSpPr>
          <p:cNvPr id="14" name="Rounded Rectangle 13"/>
          <p:cNvSpPr/>
          <p:nvPr/>
        </p:nvSpPr>
        <p:spPr>
          <a:xfrm>
            <a:off x="5157216" y="1645920"/>
            <a:ext cx="2212848" cy="1828800"/>
          </a:xfrm>
          <a:prstGeom prst="roundRect">
            <a:avLst>
              <a:gd name="adj" fmla="val 10000"/>
            </a:avLst>
          </a:prstGeom>
          <a:solidFill>
            <a:srgbClr val="1E30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66944" y="1783080"/>
            <a:ext cx="1993392" cy="594360"/>
          </a:xfrm>
          <a:prstGeom prst="rect">
            <a:avLst/>
          </a:prstGeom>
          <a:noFill/>
        </p:spPr>
        <p:txBody>
          <a:bodyPr wrap="square" anchor="t" lIns="0" rIns="0" tIns="0" bIns="0">
            <a:spAutoFit/>
          </a:bodyPr>
          <a:lstStyle/>
          <a:p>
            <a:pPr algn="ctr"/>
            <a:r>
              <a:rPr sz="1100" b="1" i="0">
                <a:solidFill>
                  <a:srgbClr val="E9A23B"/>
                </a:solidFill>
                <a:latin typeface="Calibri"/>
              </a:rPr>
              <a:t>Trajectory Matching</a:t>
            </a:r>
          </a:p>
        </p:txBody>
      </p:sp>
      <p:sp>
        <p:nvSpPr>
          <p:cNvPr id="16" name="TextBox 15"/>
          <p:cNvSpPr txBox="1"/>
          <p:nvPr/>
        </p:nvSpPr>
        <p:spPr>
          <a:xfrm>
            <a:off x="5266944" y="2377440"/>
            <a:ext cx="1993392" cy="1005840"/>
          </a:xfrm>
          <a:prstGeom prst="rect">
            <a:avLst/>
          </a:prstGeom>
          <a:noFill/>
        </p:spPr>
        <p:txBody>
          <a:bodyPr wrap="square" anchor="t" lIns="0" rIns="0" tIns="0" bIns="0">
            <a:spAutoFit/>
          </a:bodyPr>
          <a:lstStyle/>
          <a:p>
            <a:pPr algn="ctr"/>
            <a:r>
              <a:rPr sz="850" b="0" i="0">
                <a:solidFill>
                  <a:srgbClr val="ECF0F7"/>
                </a:solidFill>
                <a:latin typeface="Calibri"/>
              </a:rPr>
              <a:t>Past / Present / Future scores → Drishti Score</a:t>
            </a:r>
          </a:p>
        </p:txBody>
      </p:sp>
      <p:sp>
        <p:nvSpPr>
          <p:cNvPr id="17" name="TextBox 16"/>
          <p:cNvSpPr txBox="1"/>
          <p:nvPr/>
        </p:nvSpPr>
        <p:spPr>
          <a:xfrm>
            <a:off x="7351776" y="2331720"/>
            <a:ext cx="274320" cy="365760"/>
          </a:xfrm>
          <a:prstGeom prst="rect">
            <a:avLst/>
          </a:prstGeom>
          <a:noFill/>
        </p:spPr>
        <p:txBody>
          <a:bodyPr wrap="square" anchor="t" lIns="0" rIns="0" tIns="0" bIns="0">
            <a:spAutoFit/>
          </a:bodyPr>
          <a:lstStyle/>
          <a:p>
            <a:pPr algn="l"/>
            <a:r>
              <a:rPr sz="1600" b="1" i="0">
                <a:solidFill>
                  <a:srgbClr val="E9A23B"/>
                </a:solidFill>
                <a:latin typeface="Calibri"/>
              </a:rPr>
              <a:t>→</a:t>
            </a:r>
          </a:p>
        </p:txBody>
      </p:sp>
      <p:sp>
        <p:nvSpPr>
          <p:cNvPr id="18" name="Rounded Rectangle 17"/>
          <p:cNvSpPr/>
          <p:nvPr/>
        </p:nvSpPr>
        <p:spPr>
          <a:xfrm>
            <a:off x="7552944" y="1645920"/>
            <a:ext cx="2212848" cy="1828800"/>
          </a:xfrm>
          <a:prstGeom prst="roundRect">
            <a:avLst>
              <a:gd name="adj" fmla="val 10000"/>
            </a:avLst>
          </a:prstGeom>
          <a:solidFill>
            <a:srgbClr val="1E30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662671" y="1783080"/>
            <a:ext cx="1993392" cy="594360"/>
          </a:xfrm>
          <a:prstGeom prst="rect">
            <a:avLst/>
          </a:prstGeom>
          <a:noFill/>
        </p:spPr>
        <p:txBody>
          <a:bodyPr wrap="square" anchor="t" lIns="0" rIns="0" tIns="0" bIns="0">
            <a:spAutoFit/>
          </a:bodyPr>
          <a:lstStyle/>
          <a:p>
            <a:pPr algn="ctr"/>
            <a:r>
              <a:rPr sz="1100" b="1" i="0">
                <a:solidFill>
                  <a:srgbClr val="E9A23B"/>
                </a:solidFill>
                <a:latin typeface="Calibri"/>
              </a:rPr>
              <a:t>Insight</a:t>
            </a:r>
          </a:p>
        </p:txBody>
      </p:sp>
      <p:sp>
        <p:nvSpPr>
          <p:cNvPr id="20" name="TextBox 19"/>
          <p:cNvSpPr txBox="1"/>
          <p:nvPr/>
        </p:nvSpPr>
        <p:spPr>
          <a:xfrm>
            <a:off x="7662671" y="2377440"/>
            <a:ext cx="1993392" cy="1005840"/>
          </a:xfrm>
          <a:prstGeom prst="rect">
            <a:avLst/>
          </a:prstGeom>
          <a:noFill/>
        </p:spPr>
        <p:txBody>
          <a:bodyPr wrap="square" anchor="t" lIns="0" rIns="0" tIns="0" bIns="0">
            <a:spAutoFit/>
          </a:bodyPr>
          <a:lstStyle/>
          <a:p>
            <a:pPr algn="ctr"/>
            <a:r>
              <a:rPr sz="850" b="0" i="0">
                <a:solidFill>
                  <a:srgbClr val="ECF0F7"/>
                </a:solidFill>
                <a:latin typeface="Calibri"/>
              </a:rPr>
              <a:t>Why recommended ×3 signals + gap analysis</a:t>
            </a:r>
          </a:p>
        </p:txBody>
      </p:sp>
      <p:sp>
        <p:nvSpPr>
          <p:cNvPr id="21" name="TextBox 20"/>
          <p:cNvSpPr txBox="1"/>
          <p:nvPr/>
        </p:nvSpPr>
        <p:spPr>
          <a:xfrm>
            <a:off x="9747504" y="2331720"/>
            <a:ext cx="274320" cy="365760"/>
          </a:xfrm>
          <a:prstGeom prst="rect">
            <a:avLst/>
          </a:prstGeom>
          <a:noFill/>
        </p:spPr>
        <p:txBody>
          <a:bodyPr wrap="square" anchor="t" lIns="0" rIns="0" tIns="0" bIns="0">
            <a:spAutoFit/>
          </a:bodyPr>
          <a:lstStyle/>
          <a:p>
            <a:pPr algn="l"/>
            <a:r>
              <a:rPr sz="1600" b="1" i="0">
                <a:solidFill>
                  <a:srgbClr val="E9A23B"/>
                </a:solidFill>
                <a:latin typeface="Calibri"/>
              </a:rPr>
              <a:t>→</a:t>
            </a:r>
          </a:p>
        </p:txBody>
      </p:sp>
      <p:sp>
        <p:nvSpPr>
          <p:cNvPr id="22" name="Rounded Rectangle 21"/>
          <p:cNvSpPr/>
          <p:nvPr/>
        </p:nvSpPr>
        <p:spPr>
          <a:xfrm>
            <a:off x="9948672" y="1645920"/>
            <a:ext cx="2212848" cy="1828800"/>
          </a:xfrm>
          <a:prstGeom prst="roundRect">
            <a:avLst>
              <a:gd name="adj" fmla="val 10000"/>
            </a:avLst>
          </a:prstGeom>
          <a:solidFill>
            <a:srgbClr val="1E30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058400" y="1783080"/>
            <a:ext cx="1993392" cy="594360"/>
          </a:xfrm>
          <a:prstGeom prst="rect">
            <a:avLst/>
          </a:prstGeom>
          <a:noFill/>
        </p:spPr>
        <p:txBody>
          <a:bodyPr wrap="square" anchor="t" lIns="0" rIns="0" tIns="0" bIns="0">
            <a:spAutoFit/>
          </a:bodyPr>
          <a:lstStyle/>
          <a:p>
            <a:pPr algn="ctr"/>
            <a:r>
              <a:rPr sz="1100" b="1" i="0">
                <a:solidFill>
                  <a:srgbClr val="E9A23B"/>
                </a:solidFill>
                <a:latin typeface="Calibri"/>
              </a:rPr>
              <a:t>Feedback</a:t>
            </a:r>
          </a:p>
        </p:txBody>
      </p:sp>
      <p:sp>
        <p:nvSpPr>
          <p:cNvPr id="24" name="TextBox 23"/>
          <p:cNvSpPr txBox="1"/>
          <p:nvPr/>
        </p:nvSpPr>
        <p:spPr>
          <a:xfrm>
            <a:off x="10058400" y="2377440"/>
            <a:ext cx="1993392" cy="1005840"/>
          </a:xfrm>
          <a:prstGeom prst="rect">
            <a:avLst/>
          </a:prstGeom>
          <a:noFill/>
        </p:spPr>
        <p:txBody>
          <a:bodyPr wrap="square" anchor="t" lIns="0" rIns="0" tIns="0" bIns="0">
            <a:spAutoFit/>
          </a:bodyPr>
          <a:lstStyle/>
          <a:p>
            <a:pPr algn="ctr"/>
            <a:r>
              <a:rPr sz="850" b="0" i="0">
                <a:solidFill>
                  <a:srgbClr val="ECF0F7"/>
                </a:solidFill>
                <a:latin typeface="Calibri"/>
              </a:rPr>
              <a:t>Yes / No / Maybe logged per job</a:t>
            </a:r>
          </a:p>
        </p:txBody>
      </p:sp>
      <p:sp>
        <p:nvSpPr>
          <p:cNvPr id="25" name="Rounded Rectangle 24"/>
          <p:cNvSpPr/>
          <p:nvPr/>
        </p:nvSpPr>
        <p:spPr>
          <a:xfrm>
            <a:off x="502920" y="3931920"/>
            <a:ext cx="11155680" cy="1005840"/>
          </a:xfrm>
          <a:prstGeom prst="roundRect">
            <a:avLst>
              <a:gd name="adj" fmla="val 10000"/>
            </a:avLst>
          </a:prstGeom>
          <a:solidFill>
            <a:srgbClr val="1E30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04088" y="4069080"/>
            <a:ext cx="10753344" cy="320040"/>
          </a:xfrm>
          <a:prstGeom prst="rect">
            <a:avLst/>
          </a:prstGeom>
          <a:noFill/>
        </p:spPr>
        <p:txBody>
          <a:bodyPr wrap="square" anchor="t" lIns="0" rIns="0" tIns="0" bIns="0">
            <a:spAutoFit/>
          </a:bodyPr>
          <a:lstStyle/>
          <a:p>
            <a:pPr algn="l"/>
            <a:r>
              <a:rPr sz="1200" b="1" i="0">
                <a:solidFill>
                  <a:srgbClr val="E9A23B"/>
                </a:solidFill>
                <a:latin typeface="Calibri"/>
              </a:rPr>
              <a:t>The data contract</a:t>
            </a:r>
          </a:p>
        </p:txBody>
      </p:sp>
      <p:sp>
        <p:nvSpPr>
          <p:cNvPr id="27" name="TextBox 26"/>
          <p:cNvSpPr txBox="1"/>
          <p:nvPr/>
        </p:nvSpPr>
        <p:spPr>
          <a:xfrm>
            <a:off x="704088" y="4434840"/>
            <a:ext cx="10753344" cy="365760"/>
          </a:xfrm>
          <a:prstGeom prst="rect">
            <a:avLst/>
          </a:prstGeom>
          <a:noFill/>
        </p:spPr>
        <p:txBody>
          <a:bodyPr wrap="square" anchor="t" lIns="0" rIns="0" tIns="0" bIns="0">
            <a:spAutoFit/>
          </a:bodyPr>
          <a:lstStyle/>
          <a:p>
            <a:pPr algn="l"/>
            <a:r>
              <a:rPr sz="1050" b="0" i="0">
                <a:solidFill>
                  <a:srgbClr val="ECF0F7"/>
                </a:solidFill>
                <a:latin typeface="Calibri"/>
              </a:rPr>
              <a:t>The Trajectory Profile JSON schema is frozen in Phase A — every module (and every future agent) speaks it. Modules get promoted to true agents in Phase 3, when orchestration itself becomes the learning objective.</a:t>
            </a:r>
          </a:p>
        </p:txBody>
      </p:sp>
      <p:sp>
        <p:nvSpPr>
          <p:cNvPr id="28" name="Rounded Rectangle 27"/>
          <p:cNvSpPr/>
          <p:nvPr/>
        </p:nvSpPr>
        <p:spPr>
          <a:xfrm>
            <a:off x="502920" y="5120640"/>
            <a:ext cx="11155680" cy="1005840"/>
          </a:xfrm>
          <a:prstGeom prst="roundRect">
            <a:avLst>
              <a:gd name="adj" fmla="val 10000"/>
            </a:avLst>
          </a:prstGeom>
          <a:solidFill>
            <a:srgbClr val="1E30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04088" y="5257800"/>
            <a:ext cx="10753344" cy="320040"/>
          </a:xfrm>
          <a:prstGeom prst="rect">
            <a:avLst/>
          </a:prstGeom>
          <a:noFill/>
        </p:spPr>
        <p:txBody>
          <a:bodyPr wrap="square" anchor="t" lIns="0" rIns="0" tIns="0" bIns="0">
            <a:spAutoFit/>
          </a:bodyPr>
          <a:lstStyle/>
          <a:p>
            <a:pPr algn="l"/>
            <a:r>
              <a:rPr sz="1200" b="1" i="0">
                <a:solidFill>
                  <a:srgbClr val="E9A23B"/>
                </a:solidFill>
                <a:latin typeface="Calibri"/>
              </a:rPr>
              <a:t>Local-first by principle</a:t>
            </a:r>
          </a:p>
        </p:txBody>
      </p:sp>
      <p:sp>
        <p:nvSpPr>
          <p:cNvPr id="30" name="TextBox 29"/>
          <p:cNvSpPr txBox="1"/>
          <p:nvPr/>
        </p:nvSpPr>
        <p:spPr>
          <a:xfrm>
            <a:off x="704088" y="5623559"/>
            <a:ext cx="10753344" cy="365760"/>
          </a:xfrm>
          <a:prstGeom prst="rect">
            <a:avLst/>
          </a:prstGeom>
          <a:noFill/>
        </p:spPr>
        <p:txBody>
          <a:bodyPr wrap="square" anchor="t" lIns="0" rIns="0" tIns="0" bIns="0">
            <a:spAutoFit/>
          </a:bodyPr>
          <a:lstStyle/>
          <a:p>
            <a:pPr algn="l"/>
            <a:r>
              <a:rPr sz="1050" b="0" i="0">
                <a:solidFill>
                  <a:srgbClr val="ECF0F7"/>
                </a:solidFill>
                <a:latin typeface="Calibri"/>
              </a:rPr>
              <a:t>Ollama (Qwen/Llama/Mistral) + sentence-transformer embeddings + SQLite + ChromaDB + Streamlit. Resumes and goals never leave the machine. Zero cloud costs.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5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1155680" cy="502920"/>
          </a:xfrm>
          <a:prstGeom prst="rect">
            <a:avLst/>
          </a:prstGeom>
          <a:noFill/>
        </p:spPr>
        <p:txBody>
          <a:bodyPr wrap="square" anchor="t" lIns="0" rIns="0" tIns="0" bIns="0">
            <a:spAutoFit/>
          </a:bodyPr>
          <a:lstStyle/>
          <a:p>
            <a:pPr algn="l"/>
            <a:r>
              <a:rPr sz="2600" b="1" i="0">
                <a:solidFill>
                  <a:srgbClr val="FFFFFF"/>
                </a:solidFill>
                <a:latin typeface="Calibri"/>
              </a:rPr>
              <a:t>What a Drishti Recommendation Looks Like</a:t>
            </a:r>
          </a:p>
        </p:txBody>
      </p:sp>
      <p:sp>
        <p:nvSpPr>
          <p:cNvPr id="4" name="TextBox 3"/>
          <p:cNvSpPr txBox="1"/>
          <p:nvPr/>
        </p:nvSpPr>
        <p:spPr>
          <a:xfrm>
            <a:off x="502920" y="6492240"/>
            <a:ext cx="5486400" cy="256032"/>
          </a:xfrm>
          <a:prstGeom prst="rect">
            <a:avLst/>
          </a:prstGeom>
          <a:noFill/>
        </p:spPr>
        <p:txBody>
          <a:bodyPr wrap="square" anchor="t" lIns="0" rIns="0" tIns="0" bIns="0">
            <a:spAutoFit/>
          </a:bodyPr>
          <a:lstStyle/>
          <a:p>
            <a:pPr algn="l"/>
            <a:r>
              <a:rPr sz="850" b="0" i="0">
                <a:solidFill>
                  <a:srgbClr val="A9B7CC"/>
                </a:solidFill>
                <a:latin typeface="Calibri"/>
              </a:rPr>
              <a:t>Drishti · Ushasree Jakilinki</a:t>
            </a:r>
          </a:p>
        </p:txBody>
      </p:sp>
      <p:sp>
        <p:nvSpPr>
          <p:cNvPr id="5" name="TextBox 4"/>
          <p:cNvSpPr txBox="1"/>
          <p:nvPr/>
        </p:nvSpPr>
        <p:spPr>
          <a:xfrm>
            <a:off x="8778240" y="6492240"/>
            <a:ext cx="3017520" cy="256032"/>
          </a:xfrm>
          <a:prstGeom prst="rect">
            <a:avLst/>
          </a:prstGeom>
          <a:noFill/>
        </p:spPr>
        <p:txBody>
          <a:bodyPr wrap="square" anchor="t" lIns="0" rIns="0" tIns="0" bIns="0">
            <a:spAutoFit/>
          </a:bodyPr>
          <a:lstStyle/>
          <a:p>
            <a:pPr algn="r"/>
            <a:r>
              <a:rPr sz="850" b="0" i="0">
                <a:solidFill>
                  <a:srgbClr val="A9B7CC"/>
                </a:solidFill>
                <a:latin typeface="Calibri"/>
              </a:rPr>
              <a:t>7</a:t>
            </a:r>
          </a:p>
        </p:txBody>
      </p:sp>
      <p:sp>
        <p:nvSpPr>
          <p:cNvPr id="6" name="Rounded Rectangle 5"/>
          <p:cNvSpPr/>
          <p:nvPr/>
        </p:nvSpPr>
        <p:spPr>
          <a:xfrm>
            <a:off x="502920" y="1463040"/>
            <a:ext cx="11155680" cy="4206240"/>
          </a:xfrm>
          <a:prstGeom prst="roundRect">
            <a:avLst>
              <a:gd name="adj" fmla="val 10000"/>
            </a:avLst>
          </a:prstGeom>
          <a:solidFill>
            <a:srgbClr val="1E30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7315200" cy="365760"/>
          </a:xfrm>
          <a:prstGeom prst="rect">
            <a:avLst/>
          </a:prstGeom>
          <a:noFill/>
        </p:spPr>
        <p:txBody>
          <a:bodyPr wrap="square" anchor="t" lIns="0" rIns="0" tIns="0" bIns="0">
            <a:spAutoFit/>
          </a:bodyPr>
          <a:lstStyle/>
          <a:p>
            <a:pPr algn="l"/>
            <a:r>
              <a:rPr sz="1500" b="1" i="0">
                <a:solidFill>
                  <a:srgbClr val="FFFFFF"/>
                </a:solidFill>
                <a:latin typeface="Calibri"/>
              </a:rPr>
              <a:t>AI Product Manager — recommended</a:t>
            </a:r>
          </a:p>
        </p:txBody>
      </p:sp>
      <p:sp>
        <p:nvSpPr>
          <p:cNvPr id="8" name="Rounded Rectangle 7"/>
          <p:cNvSpPr/>
          <p:nvPr/>
        </p:nvSpPr>
        <p:spPr>
          <a:xfrm>
            <a:off x="9692640" y="1691640"/>
            <a:ext cx="1737360" cy="411480"/>
          </a:xfrm>
          <a:prstGeom prst="roundRect">
            <a:avLst>
              <a:gd name="adj" fmla="val 10000"/>
            </a:avLst>
          </a:prstGeom>
          <a:solidFill>
            <a:srgbClr val="273B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92640" y="1764792"/>
            <a:ext cx="1737360" cy="274320"/>
          </a:xfrm>
          <a:prstGeom prst="rect">
            <a:avLst/>
          </a:prstGeom>
          <a:noFill/>
        </p:spPr>
        <p:txBody>
          <a:bodyPr wrap="square" anchor="t" lIns="0" rIns="0" tIns="0" bIns="0">
            <a:spAutoFit/>
          </a:bodyPr>
          <a:lstStyle/>
          <a:p>
            <a:pPr algn="ctr"/>
            <a:r>
              <a:rPr sz="1000" b="1" i="0">
                <a:solidFill>
                  <a:srgbClr val="E9A23B"/>
                </a:solidFill>
                <a:latin typeface="Calibri"/>
              </a:rPr>
              <a:t>Drishti Score: 0.86</a:t>
            </a:r>
          </a:p>
        </p:txBody>
      </p:sp>
      <p:sp>
        <p:nvSpPr>
          <p:cNvPr id="10" name="TextBox 9"/>
          <p:cNvSpPr txBox="1"/>
          <p:nvPr/>
        </p:nvSpPr>
        <p:spPr>
          <a:xfrm>
            <a:off x="777240" y="2286000"/>
            <a:ext cx="3474720" cy="274320"/>
          </a:xfrm>
          <a:prstGeom prst="rect">
            <a:avLst/>
          </a:prstGeom>
          <a:noFill/>
        </p:spPr>
        <p:txBody>
          <a:bodyPr wrap="square" anchor="t" lIns="0" rIns="0" tIns="0" bIns="0">
            <a:spAutoFit/>
          </a:bodyPr>
          <a:lstStyle/>
          <a:p>
            <a:pPr algn="l"/>
            <a:r>
              <a:rPr sz="1050" b="1" i="0">
                <a:solidFill>
                  <a:srgbClr val="E9A23B"/>
                </a:solidFill>
                <a:latin typeface="Calibri"/>
              </a:rPr>
              <a:t>✔ Fits your PAST</a:t>
            </a:r>
          </a:p>
        </p:txBody>
      </p:sp>
      <p:sp>
        <p:nvSpPr>
          <p:cNvPr id="11" name="TextBox 10"/>
          <p:cNvSpPr txBox="1"/>
          <p:nvPr/>
        </p:nvSpPr>
        <p:spPr>
          <a:xfrm>
            <a:off x="777240" y="2606040"/>
            <a:ext cx="3474720" cy="1188720"/>
          </a:xfrm>
          <a:prstGeom prst="rect">
            <a:avLst/>
          </a:prstGeom>
          <a:noFill/>
        </p:spPr>
        <p:txBody>
          <a:bodyPr wrap="square" anchor="t" lIns="0" rIns="0" tIns="0" bIns="0">
            <a:spAutoFit/>
          </a:bodyPr>
          <a:lstStyle/>
          <a:p>
            <a:pPr algn="l"/>
            <a:r>
              <a:rPr sz="950" b="0" i="0">
                <a:solidFill>
                  <a:srgbClr val="ECF0F7"/>
                </a:solidFill>
                <a:latin typeface="Calibri"/>
              </a:rPr>
              <a:t>Product management and delivery leadership; enterprise stakeholder experience; CSPO.</a:t>
            </a:r>
          </a:p>
        </p:txBody>
      </p:sp>
      <p:sp>
        <p:nvSpPr>
          <p:cNvPr id="12" name="TextBox 11"/>
          <p:cNvSpPr txBox="1"/>
          <p:nvPr/>
        </p:nvSpPr>
        <p:spPr>
          <a:xfrm>
            <a:off x="4434840" y="2286000"/>
            <a:ext cx="3474720" cy="274320"/>
          </a:xfrm>
          <a:prstGeom prst="rect">
            <a:avLst/>
          </a:prstGeom>
          <a:noFill/>
        </p:spPr>
        <p:txBody>
          <a:bodyPr wrap="square" anchor="t" lIns="0" rIns="0" tIns="0" bIns="0">
            <a:spAutoFit/>
          </a:bodyPr>
          <a:lstStyle/>
          <a:p>
            <a:pPr algn="l"/>
            <a:r>
              <a:rPr sz="1050" b="1" i="0">
                <a:solidFill>
                  <a:srgbClr val="E9A23B"/>
                </a:solidFill>
                <a:latin typeface="Calibri"/>
              </a:rPr>
              <a:t>✔ Fits your PRESENT</a:t>
            </a:r>
          </a:p>
        </p:txBody>
      </p:sp>
      <p:sp>
        <p:nvSpPr>
          <p:cNvPr id="13" name="TextBox 12"/>
          <p:cNvSpPr txBox="1"/>
          <p:nvPr/>
        </p:nvSpPr>
        <p:spPr>
          <a:xfrm>
            <a:off x="4434840" y="2606040"/>
            <a:ext cx="3474720" cy="1188720"/>
          </a:xfrm>
          <a:prstGeom prst="rect">
            <a:avLst/>
          </a:prstGeom>
          <a:noFill/>
        </p:spPr>
        <p:txBody>
          <a:bodyPr wrap="square" anchor="t" lIns="0" rIns="0" tIns="0" bIns="0">
            <a:spAutoFit/>
          </a:bodyPr>
          <a:lstStyle/>
          <a:p>
            <a:pPr algn="l"/>
            <a:r>
              <a:rPr sz="950" b="0" i="0">
                <a:solidFill>
                  <a:srgbClr val="ECF0F7"/>
                </a:solidFill>
                <a:latin typeface="Calibri"/>
              </a:rPr>
              <a:t>Building AI agents and case studies; studying agentic AI, Responsible AI, and evaluation frameworks.</a:t>
            </a:r>
          </a:p>
        </p:txBody>
      </p:sp>
      <p:sp>
        <p:nvSpPr>
          <p:cNvPr id="14" name="TextBox 13"/>
          <p:cNvSpPr txBox="1"/>
          <p:nvPr/>
        </p:nvSpPr>
        <p:spPr>
          <a:xfrm>
            <a:off x="8092440" y="2286000"/>
            <a:ext cx="3291840" cy="274320"/>
          </a:xfrm>
          <a:prstGeom prst="rect">
            <a:avLst/>
          </a:prstGeom>
          <a:noFill/>
        </p:spPr>
        <p:txBody>
          <a:bodyPr wrap="square" anchor="t" lIns="0" rIns="0" tIns="0" bIns="0">
            <a:spAutoFit/>
          </a:bodyPr>
          <a:lstStyle/>
          <a:p>
            <a:pPr algn="l"/>
            <a:r>
              <a:rPr sz="1050" b="1" i="0">
                <a:solidFill>
                  <a:srgbClr val="E9A23B"/>
                </a:solidFill>
                <a:latin typeface="Calibri"/>
              </a:rPr>
              <a:t>✔ Fits your FUTURE</a:t>
            </a:r>
          </a:p>
        </p:txBody>
      </p:sp>
      <p:sp>
        <p:nvSpPr>
          <p:cNvPr id="15" name="TextBox 14"/>
          <p:cNvSpPr txBox="1"/>
          <p:nvPr/>
        </p:nvSpPr>
        <p:spPr>
          <a:xfrm>
            <a:off x="8092440" y="2606040"/>
            <a:ext cx="3291840" cy="1188720"/>
          </a:xfrm>
          <a:prstGeom prst="rect">
            <a:avLst/>
          </a:prstGeom>
          <a:noFill/>
        </p:spPr>
        <p:txBody>
          <a:bodyPr wrap="square" anchor="t" lIns="0" rIns="0" tIns="0" bIns="0">
            <a:spAutoFit/>
          </a:bodyPr>
          <a:lstStyle/>
          <a:p>
            <a:pPr algn="l"/>
            <a:r>
              <a:rPr sz="950" b="0" i="0">
                <a:solidFill>
                  <a:srgbClr val="ECF0F7"/>
                </a:solidFill>
                <a:latin typeface="Calibri"/>
              </a:rPr>
              <a:t>Stated target: AI Product Management and agentic AI solution roles.</a:t>
            </a:r>
          </a:p>
        </p:txBody>
      </p:sp>
      <p:sp>
        <p:nvSpPr>
          <p:cNvPr id="16" name="Rectangle 15"/>
          <p:cNvSpPr/>
          <p:nvPr/>
        </p:nvSpPr>
        <p:spPr>
          <a:xfrm>
            <a:off x="777240" y="3977639"/>
            <a:ext cx="10607040" cy="18288"/>
          </a:xfrm>
          <a:prstGeom prst="rect">
            <a:avLst/>
          </a:prstGeom>
          <a:solidFill>
            <a:srgbClr val="2C40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4160520"/>
            <a:ext cx="3200400" cy="274320"/>
          </a:xfrm>
          <a:prstGeom prst="rect">
            <a:avLst/>
          </a:prstGeom>
          <a:noFill/>
        </p:spPr>
        <p:txBody>
          <a:bodyPr wrap="square" anchor="t" lIns="0" rIns="0" tIns="0" bIns="0">
            <a:spAutoFit/>
          </a:bodyPr>
          <a:lstStyle/>
          <a:p>
            <a:pPr algn="l"/>
            <a:r>
              <a:rPr sz="1050" b="1" i="0">
                <a:solidFill>
                  <a:srgbClr val="E9A23B"/>
                </a:solidFill>
                <a:latin typeface="Calibri"/>
              </a:rPr>
              <a:t>⚠ Gaps to close</a:t>
            </a:r>
          </a:p>
        </p:txBody>
      </p:sp>
      <p:sp>
        <p:nvSpPr>
          <p:cNvPr id="18" name="TextBox 17"/>
          <p:cNvSpPr txBox="1"/>
          <p:nvPr/>
        </p:nvSpPr>
        <p:spPr>
          <a:xfrm>
            <a:off x="777240" y="4480560"/>
            <a:ext cx="10424160" cy="822960"/>
          </a:xfrm>
          <a:prstGeom prst="rect">
            <a:avLst/>
          </a:prstGeom>
          <a:noFill/>
        </p:spPr>
        <p:txBody>
          <a:bodyPr wrap="square" anchor="t" lIns="0" rIns="0" tIns="0" bIns="0">
            <a:spAutoFit/>
          </a:bodyPr>
          <a:lstStyle/>
          <a:p>
            <a:pPr algn="l"/>
            <a:r>
              <a:rPr sz="950" b="0" i="0">
                <a:solidFill>
                  <a:srgbClr val="ECF0F7"/>
                </a:solidFill>
                <a:latin typeface="Calibri"/>
              </a:rPr>
              <a:t>Shipped AI product at scale not yet demonstrated · certification preferred by employer · consider one deployed end-to-end demo. (Gaps feed the future roadmap engine: what to learn, build, and show next.)</a:t>
            </a:r>
          </a:p>
        </p:txBody>
      </p:sp>
      <p:sp>
        <p:nvSpPr>
          <p:cNvPr id="19" name="TextBox 18"/>
          <p:cNvSpPr txBox="1"/>
          <p:nvPr/>
        </p:nvSpPr>
        <p:spPr>
          <a:xfrm>
            <a:off x="502920" y="5852160"/>
            <a:ext cx="11155680" cy="365760"/>
          </a:xfrm>
          <a:prstGeom prst="rect">
            <a:avLst/>
          </a:prstGeom>
          <a:noFill/>
        </p:spPr>
        <p:txBody>
          <a:bodyPr wrap="square" anchor="t" lIns="0" rIns="0" tIns="0" bIns="0">
            <a:spAutoFit/>
          </a:bodyPr>
          <a:lstStyle/>
          <a:p>
            <a:pPr algn="l"/>
            <a:r>
              <a:rPr sz="1100" b="0" i="1">
                <a:solidFill>
                  <a:srgbClr val="A9B7CC"/>
                </a:solidFill>
                <a:latin typeface="Calibri"/>
              </a:rPr>
              <a:t>Every recommendation explains itself across all three signals — no unexplained scores, ever.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5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1155680" cy="502920"/>
          </a:xfrm>
          <a:prstGeom prst="rect">
            <a:avLst/>
          </a:prstGeom>
          <a:noFill/>
        </p:spPr>
        <p:txBody>
          <a:bodyPr wrap="square" anchor="t" lIns="0" rIns="0" tIns="0" bIns="0">
            <a:spAutoFit/>
          </a:bodyPr>
          <a:lstStyle/>
          <a:p>
            <a:pPr algn="l"/>
            <a:r>
              <a:rPr sz="2600" b="1" i="0">
                <a:solidFill>
                  <a:srgbClr val="FFFFFF"/>
                </a:solidFill>
                <a:latin typeface="Calibri"/>
              </a:rPr>
              <a:t>Evaluation — Same Discipline, New Domain</a:t>
            </a:r>
          </a:p>
        </p:txBody>
      </p:sp>
      <p:sp>
        <p:nvSpPr>
          <p:cNvPr id="4" name="TextBox 3"/>
          <p:cNvSpPr txBox="1"/>
          <p:nvPr/>
        </p:nvSpPr>
        <p:spPr>
          <a:xfrm>
            <a:off x="502920" y="868680"/>
            <a:ext cx="11155680" cy="320040"/>
          </a:xfrm>
          <a:prstGeom prst="rect">
            <a:avLst/>
          </a:prstGeom>
          <a:noFill/>
        </p:spPr>
        <p:txBody>
          <a:bodyPr wrap="square" anchor="t" lIns="0" rIns="0" tIns="0" bIns="0">
            <a:spAutoFit/>
          </a:bodyPr>
          <a:lstStyle/>
          <a:p>
            <a:pPr algn="l"/>
            <a:r>
              <a:rPr sz="1150" b="0" i="1">
                <a:solidFill>
                  <a:srgbClr val="A9B7CC"/>
                </a:solidFill>
                <a:latin typeface="Calibri"/>
              </a:rPr>
              <a:t>“It works” and “it's trustworthy” are different milestones.</a:t>
            </a:r>
          </a:p>
        </p:txBody>
      </p:sp>
      <p:sp>
        <p:nvSpPr>
          <p:cNvPr id="5" name="TextBox 4"/>
          <p:cNvSpPr txBox="1"/>
          <p:nvPr/>
        </p:nvSpPr>
        <p:spPr>
          <a:xfrm>
            <a:off x="502920" y="6492240"/>
            <a:ext cx="5486400" cy="256032"/>
          </a:xfrm>
          <a:prstGeom prst="rect">
            <a:avLst/>
          </a:prstGeom>
          <a:noFill/>
        </p:spPr>
        <p:txBody>
          <a:bodyPr wrap="square" anchor="t" lIns="0" rIns="0" tIns="0" bIns="0">
            <a:spAutoFit/>
          </a:bodyPr>
          <a:lstStyle/>
          <a:p>
            <a:pPr algn="l"/>
            <a:r>
              <a:rPr sz="850" b="0" i="0">
                <a:solidFill>
                  <a:srgbClr val="A9B7CC"/>
                </a:solidFill>
                <a:latin typeface="Calibri"/>
              </a:rPr>
              <a:t>Drishti · Ushasree Jakilinki</a:t>
            </a:r>
          </a:p>
        </p:txBody>
      </p:sp>
      <p:sp>
        <p:nvSpPr>
          <p:cNvPr id="6" name="TextBox 5"/>
          <p:cNvSpPr txBox="1"/>
          <p:nvPr/>
        </p:nvSpPr>
        <p:spPr>
          <a:xfrm>
            <a:off x="8778240" y="6492240"/>
            <a:ext cx="3017520" cy="256032"/>
          </a:xfrm>
          <a:prstGeom prst="rect">
            <a:avLst/>
          </a:prstGeom>
          <a:noFill/>
        </p:spPr>
        <p:txBody>
          <a:bodyPr wrap="square" anchor="t" lIns="0" rIns="0" tIns="0" bIns="0">
            <a:spAutoFit/>
          </a:bodyPr>
          <a:lstStyle/>
          <a:p>
            <a:pPr algn="r"/>
            <a:r>
              <a:rPr sz="850" b="0" i="0">
                <a:solidFill>
                  <a:srgbClr val="A9B7CC"/>
                </a:solidFill>
                <a:latin typeface="Calibri"/>
              </a:rPr>
              <a:t>8</a:t>
            </a:r>
          </a:p>
        </p:txBody>
      </p:sp>
      <p:sp>
        <p:nvSpPr>
          <p:cNvPr id="7" name="Rounded Rectangle 6"/>
          <p:cNvSpPr/>
          <p:nvPr/>
        </p:nvSpPr>
        <p:spPr>
          <a:xfrm>
            <a:off x="502920" y="1554480"/>
            <a:ext cx="5623560" cy="1645920"/>
          </a:xfrm>
          <a:prstGeom prst="roundRect">
            <a:avLst>
              <a:gd name="adj" fmla="val 10000"/>
            </a:avLst>
          </a:prstGeom>
          <a:solidFill>
            <a:srgbClr val="1E30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04088" y="1691639"/>
            <a:ext cx="5221224" cy="320040"/>
          </a:xfrm>
          <a:prstGeom prst="rect">
            <a:avLst/>
          </a:prstGeom>
          <a:noFill/>
        </p:spPr>
        <p:txBody>
          <a:bodyPr wrap="square" anchor="t" lIns="0" rIns="0" tIns="0" bIns="0">
            <a:spAutoFit/>
          </a:bodyPr>
          <a:lstStyle/>
          <a:p>
            <a:pPr algn="l"/>
            <a:r>
              <a:rPr sz="1200" b="1" i="0">
                <a:solidFill>
                  <a:srgbClr val="E9A23B"/>
                </a:solidFill>
                <a:latin typeface="Calibri"/>
              </a:rPr>
              <a:t>Extraction accuracy</a:t>
            </a:r>
          </a:p>
        </p:txBody>
      </p:sp>
      <p:sp>
        <p:nvSpPr>
          <p:cNvPr id="9" name="TextBox 8"/>
          <p:cNvSpPr txBox="1"/>
          <p:nvPr/>
        </p:nvSpPr>
        <p:spPr>
          <a:xfrm>
            <a:off x="704088" y="2057400"/>
            <a:ext cx="5221224" cy="1005840"/>
          </a:xfrm>
          <a:prstGeom prst="rect">
            <a:avLst/>
          </a:prstGeom>
          <a:noFill/>
        </p:spPr>
        <p:txBody>
          <a:bodyPr wrap="square" anchor="t" lIns="0" rIns="0" tIns="0" bIns="0">
            <a:spAutoFit/>
          </a:bodyPr>
          <a:lstStyle/>
          <a:p>
            <a:pPr algn="l"/>
            <a:r>
              <a:rPr sz="1050" b="0" i="0">
                <a:solidFill>
                  <a:srgbClr val="ECF0F7"/>
                </a:solidFill>
                <a:latin typeface="Calibri"/>
              </a:rPr>
              <a:t>Parsed profile vs. hand-labeled resume fields; user validation step catches the rest</a:t>
            </a:r>
          </a:p>
        </p:txBody>
      </p:sp>
      <p:sp>
        <p:nvSpPr>
          <p:cNvPr id="10" name="Rounded Rectangle 9"/>
          <p:cNvSpPr/>
          <p:nvPr/>
        </p:nvSpPr>
        <p:spPr>
          <a:xfrm>
            <a:off x="6400800" y="1554480"/>
            <a:ext cx="5623560" cy="1645920"/>
          </a:xfrm>
          <a:prstGeom prst="roundRect">
            <a:avLst>
              <a:gd name="adj" fmla="val 10000"/>
            </a:avLst>
          </a:prstGeom>
          <a:solidFill>
            <a:srgbClr val="1E30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01968" y="1691639"/>
            <a:ext cx="5221224" cy="320040"/>
          </a:xfrm>
          <a:prstGeom prst="rect">
            <a:avLst/>
          </a:prstGeom>
          <a:noFill/>
        </p:spPr>
        <p:txBody>
          <a:bodyPr wrap="square" anchor="t" lIns="0" rIns="0" tIns="0" bIns="0">
            <a:spAutoFit/>
          </a:bodyPr>
          <a:lstStyle/>
          <a:p>
            <a:pPr algn="l"/>
            <a:r>
              <a:rPr sz="1200" b="1" i="0">
                <a:solidFill>
                  <a:srgbClr val="E9A23B"/>
                </a:solidFill>
                <a:latin typeface="Calibri"/>
              </a:rPr>
              <a:t>Recommendation quality</a:t>
            </a:r>
          </a:p>
        </p:txBody>
      </p:sp>
      <p:sp>
        <p:nvSpPr>
          <p:cNvPr id="12" name="TextBox 11"/>
          <p:cNvSpPr txBox="1"/>
          <p:nvPr/>
        </p:nvSpPr>
        <p:spPr>
          <a:xfrm>
            <a:off x="6601968" y="2057400"/>
            <a:ext cx="5221224" cy="1005840"/>
          </a:xfrm>
          <a:prstGeom prst="rect">
            <a:avLst/>
          </a:prstGeom>
          <a:noFill/>
        </p:spPr>
        <p:txBody>
          <a:bodyPr wrap="square" anchor="t" lIns="0" rIns="0" tIns="0" bIns="0">
            <a:spAutoFit/>
          </a:bodyPr>
          <a:lstStyle/>
          <a:p>
            <a:pPr algn="l"/>
            <a:r>
              <a:rPr sz="1050" b="0" i="0">
                <a:solidFill>
                  <a:srgbClr val="ECF0F7"/>
                </a:solidFill>
                <a:latin typeface="Calibri"/>
              </a:rPr>
              <a:t>Human eval per job: Would you apply? Target: ≥ 70% Yes/Maybe</a:t>
            </a:r>
          </a:p>
        </p:txBody>
      </p:sp>
      <p:sp>
        <p:nvSpPr>
          <p:cNvPr id="13" name="Rounded Rectangle 12"/>
          <p:cNvSpPr/>
          <p:nvPr/>
        </p:nvSpPr>
        <p:spPr>
          <a:xfrm>
            <a:off x="502920" y="3383280"/>
            <a:ext cx="5623560" cy="1645920"/>
          </a:xfrm>
          <a:prstGeom prst="roundRect">
            <a:avLst>
              <a:gd name="adj" fmla="val 10000"/>
            </a:avLst>
          </a:prstGeom>
          <a:solidFill>
            <a:srgbClr val="1E30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088" y="3520440"/>
            <a:ext cx="5221224" cy="320040"/>
          </a:xfrm>
          <a:prstGeom prst="rect">
            <a:avLst/>
          </a:prstGeom>
          <a:noFill/>
        </p:spPr>
        <p:txBody>
          <a:bodyPr wrap="square" anchor="t" lIns="0" rIns="0" tIns="0" bIns="0">
            <a:spAutoFit/>
          </a:bodyPr>
          <a:lstStyle/>
          <a:p>
            <a:pPr algn="l"/>
            <a:r>
              <a:rPr sz="1200" b="1" i="0">
                <a:solidFill>
                  <a:srgbClr val="E9A23B"/>
                </a:solidFill>
                <a:latin typeface="Calibri"/>
              </a:rPr>
              <a:t>Hallucination testing</a:t>
            </a:r>
          </a:p>
        </p:txBody>
      </p:sp>
      <p:sp>
        <p:nvSpPr>
          <p:cNvPr id="15" name="TextBox 14"/>
          <p:cNvSpPr txBox="1"/>
          <p:nvPr/>
        </p:nvSpPr>
        <p:spPr>
          <a:xfrm>
            <a:off x="704088" y="3886200"/>
            <a:ext cx="5221224" cy="1005840"/>
          </a:xfrm>
          <a:prstGeom prst="rect">
            <a:avLst/>
          </a:prstGeom>
          <a:noFill/>
        </p:spPr>
        <p:txBody>
          <a:bodyPr wrap="square" anchor="t" lIns="0" rIns="0" tIns="0" bIns="0">
            <a:spAutoFit/>
          </a:bodyPr>
          <a:lstStyle/>
          <a:p>
            <a:pPr algn="l"/>
            <a:r>
              <a:rPr sz="1050" b="0" i="0">
                <a:solidFill>
                  <a:srgbClr val="ECF0F7"/>
                </a:solidFill>
                <a:latin typeface="Calibri"/>
              </a:rPr>
              <a:t>No fake jobs, no fake skills, no fake certifications — outputs validated against sources</a:t>
            </a:r>
          </a:p>
        </p:txBody>
      </p:sp>
      <p:sp>
        <p:nvSpPr>
          <p:cNvPr id="16" name="Rounded Rectangle 15"/>
          <p:cNvSpPr/>
          <p:nvPr/>
        </p:nvSpPr>
        <p:spPr>
          <a:xfrm>
            <a:off x="6400800" y="3383280"/>
            <a:ext cx="5623560" cy="1645920"/>
          </a:xfrm>
          <a:prstGeom prst="roundRect">
            <a:avLst>
              <a:gd name="adj" fmla="val 10000"/>
            </a:avLst>
          </a:prstGeom>
          <a:solidFill>
            <a:srgbClr val="1E30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601968" y="3520440"/>
            <a:ext cx="5221224" cy="320040"/>
          </a:xfrm>
          <a:prstGeom prst="rect">
            <a:avLst/>
          </a:prstGeom>
          <a:noFill/>
        </p:spPr>
        <p:txBody>
          <a:bodyPr wrap="square" anchor="t" lIns="0" rIns="0" tIns="0" bIns="0">
            <a:spAutoFit/>
          </a:bodyPr>
          <a:lstStyle/>
          <a:p>
            <a:pPr algn="l"/>
            <a:r>
              <a:rPr sz="1200" b="1" i="0">
                <a:solidFill>
                  <a:srgbClr val="E9A23B"/>
                </a:solidFill>
                <a:latin typeface="Calibri"/>
              </a:rPr>
              <a:t>Performance</a:t>
            </a:r>
          </a:p>
        </p:txBody>
      </p:sp>
      <p:sp>
        <p:nvSpPr>
          <p:cNvPr id="18" name="TextBox 17"/>
          <p:cNvSpPr txBox="1"/>
          <p:nvPr/>
        </p:nvSpPr>
        <p:spPr>
          <a:xfrm>
            <a:off x="6601968" y="3886200"/>
            <a:ext cx="5221224" cy="1005840"/>
          </a:xfrm>
          <a:prstGeom prst="rect">
            <a:avLst/>
          </a:prstGeom>
          <a:noFill/>
        </p:spPr>
        <p:txBody>
          <a:bodyPr wrap="square" anchor="t" lIns="0" rIns="0" tIns="0" bIns="0">
            <a:spAutoFit/>
          </a:bodyPr>
          <a:lstStyle/>
          <a:p>
            <a:pPr algn="l"/>
            <a:r>
              <a:rPr sz="1050" b="0" i="0">
                <a:solidFill>
                  <a:srgbClr val="ECF0F7"/>
                </a:solidFill>
                <a:latin typeface="Calibri"/>
              </a:rPr>
              <a:t>End-to-end recommendations in under 10 seconds on local data</a:t>
            </a:r>
          </a:p>
        </p:txBody>
      </p:sp>
      <p:sp>
        <p:nvSpPr>
          <p:cNvPr id="19" name="TextBox 18"/>
          <p:cNvSpPr txBox="1"/>
          <p:nvPr/>
        </p:nvSpPr>
        <p:spPr>
          <a:xfrm>
            <a:off x="502920" y="5394960"/>
            <a:ext cx="11155680" cy="457200"/>
          </a:xfrm>
          <a:prstGeom prst="rect">
            <a:avLst/>
          </a:prstGeom>
          <a:noFill/>
        </p:spPr>
        <p:txBody>
          <a:bodyPr wrap="square" anchor="t" lIns="0" rIns="0" tIns="0" bIns="0">
            <a:spAutoFit/>
          </a:bodyPr>
          <a:lstStyle/>
          <a:p>
            <a:pPr algn="l"/>
            <a:r>
              <a:rPr sz="1100" b="0" i="0">
                <a:solidFill>
                  <a:srgbClr val="ECF0F7"/>
                </a:solidFill>
                <a:latin typeface="Calibri"/>
              </a:rPr>
              <a:t>Feedback (Yes/No/Maybe) is both the quality metric and the future training signal for re-weighting the Drishti Score.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5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1155680" cy="502920"/>
          </a:xfrm>
          <a:prstGeom prst="rect">
            <a:avLst/>
          </a:prstGeom>
          <a:noFill/>
        </p:spPr>
        <p:txBody>
          <a:bodyPr wrap="square" anchor="t" lIns="0" rIns="0" tIns="0" bIns="0">
            <a:spAutoFit/>
          </a:bodyPr>
          <a:lstStyle/>
          <a:p>
            <a:pPr algn="l"/>
            <a:r>
              <a:rPr sz="2600" b="1" i="0">
                <a:solidFill>
                  <a:srgbClr val="FFFFFF"/>
                </a:solidFill>
                <a:latin typeface="Calibri"/>
              </a:rPr>
              <a:t>Risks &amp; Mitigations</a:t>
            </a:r>
          </a:p>
        </p:txBody>
      </p:sp>
      <p:sp>
        <p:nvSpPr>
          <p:cNvPr id="4" name="TextBox 3"/>
          <p:cNvSpPr txBox="1"/>
          <p:nvPr/>
        </p:nvSpPr>
        <p:spPr>
          <a:xfrm>
            <a:off x="502920" y="6492240"/>
            <a:ext cx="5486400" cy="256032"/>
          </a:xfrm>
          <a:prstGeom prst="rect">
            <a:avLst/>
          </a:prstGeom>
          <a:noFill/>
        </p:spPr>
        <p:txBody>
          <a:bodyPr wrap="square" anchor="t" lIns="0" rIns="0" tIns="0" bIns="0">
            <a:spAutoFit/>
          </a:bodyPr>
          <a:lstStyle/>
          <a:p>
            <a:pPr algn="l"/>
            <a:r>
              <a:rPr sz="850" b="0" i="0">
                <a:solidFill>
                  <a:srgbClr val="A9B7CC"/>
                </a:solidFill>
                <a:latin typeface="Calibri"/>
              </a:rPr>
              <a:t>Drishti · Ushasree Jakilinki</a:t>
            </a:r>
          </a:p>
        </p:txBody>
      </p:sp>
      <p:sp>
        <p:nvSpPr>
          <p:cNvPr id="5" name="TextBox 4"/>
          <p:cNvSpPr txBox="1"/>
          <p:nvPr/>
        </p:nvSpPr>
        <p:spPr>
          <a:xfrm>
            <a:off x="8778240" y="6492240"/>
            <a:ext cx="3017520" cy="256032"/>
          </a:xfrm>
          <a:prstGeom prst="rect">
            <a:avLst/>
          </a:prstGeom>
          <a:noFill/>
        </p:spPr>
        <p:txBody>
          <a:bodyPr wrap="square" anchor="t" lIns="0" rIns="0" tIns="0" bIns="0">
            <a:spAutoFit/>
          </a:bodyPr>
          <a:lstStyle/>
          <a:p>
            <a:pPr algn="r"/>
            <a:r>
              <a:rPr sz="850" b="0" i="0">
                <a:solidFill>
                  <a:srgbClr val="A9B7CC"/>
                </a:solidFill>
                <a:latin typeface="Calibri"/>
              </a:rPr>
              <a:t>9</a:t>
            </a:r>
          </a:p>
        </p:txBody>
      </p:sp>
      <p:sp>
        <p:nvSpPr>
          <p:cNvPr id="6" name="Rounded Rectangle 5"/>
          <p:cNvSpPr/>
          <p:nvPr/>
        </p:nvSpPr>
        <p:spPr>
          <a:xfrm>
            <a:off x="502920" y="1554480"/>
            <a:ext cx="11155680" cy="1005840"/>
          </a:xfrm>
          <a:prstGeom prst="roundRect">
            <a:avLst>
              <a:gd name="adj" fmla="val 10000"/>
            </a:avLst>
          </a:prstGeom>
          <a:solidFill>
            <a:srgbClr val="1E30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04088" y="1691639"/>
            <a:ext cx="10753344" cy="320040"/>
          </a:xfrm>
          <a:prstGeom prst="rect">
            <a:avLst/>
          </a:prstGeom>
          <a:noFill/>
        </p:spPr>
        <p:txBody>
          <a:bodyPr wrap="square" anchor="t" lIns="0" rIns="0" tIns="0" bIns="0">
            <a:spAutoFit/>
          </a:bodyPr>
          <a:lstStyle/>
          <a:p>
            <a:pPr algn="l"/>
            <a:r>
              <a:rPr sz="1100" b="1" i="0">
                <a:solidFill>
                  <a:srgbClr val="E9A23B"/>
                </a:solidFill>
                <a:latin typeface="Calibri"/>
              </a:rPr>
              <a:t>Resume parsing inaccuracies</a:t>
            </a:r>
          </a:p>
        </p:txBody>
      </p:sp>
      <p:sp>
        <p:nvSpPr>
          <p:cNvPr id="8" name="TextBox 7"/>
          <p:cNvSpPr txBox="1"/>
          <p:nvPr/>
        </p:nvSpPr>
        <p:spPr>
          <a:xfrm>
            <a:off x="704088" y="2057400"/>
            <a:ext cx="10753344" cy="365760"/>
          </a:xfrm>
          <a:prstGeom prst="rect">
            <a:avLst/>
          </a:prstGeom>
          <a:noFill/>
        </p:spPr>
        <p:txBody>
          <a:bodyPr wrap="square" anchor="t" lIns="0" rIns="0" tIns="0" bIns="0">
            <a:spAutoFit/>
          </a:bodyPr>
          <a:lstStyle/>
          <a:p>
            <a:pPr algn="l"/>
            <a:r>
              <a:rPr sz="1000" b="0" i="0">
                <a:solidFill>
                  <a:srgbClr val="ECF0F7"/>
                </a:solidFill>
                <a:latin typeface="Calibri"/>
              </a:rPr>
              <a:t>Mandatory user review/edit of the extracted profile before matching.</a:t>
            </a:r>
          </a:p>
        </p:txBody>
      </p:sp>
      <p:sp>
        <p:nvSpPr>
          <p:cNvPr id="9" name="Rounded Rectangle 8"/>
          <p:cNvSpPr/>
          <p:nvPr/>
        </p:nvSpPr>
        <p:spPr>
          <a:xfrm>
            <a:off x="502920" y="2697480"/>
            <a:ext cx="11155680" cy="1005840"/>
          </a:xfrm>
          <a:prstGeom prst="roundRect">
            <a:avLst>
              <a:gd name="adj" fmla="val 10000"/>
            </a:avLst>
          </a:prstGeom>
          <a:solidFill>
            <a:srgbClr val="1E30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04088" y="2834640"/>
            <a:ext cx="10753344" cy="320040"/>
          </a:xfrm>
          <a:prstGeom prst="rect">
            <a:avLst/>
          </a:prstGeom>
          <a:noFill/>
        </p:spPr>
        <p:txBody>
          <a:bodyPr wrap="square" anchor="t" lIns="0" rIns="0" tIns="0" bIns="0">
            <a:spAutoFit/>
          </a:bodyPr>
          <a:lstStyle/>
          <a:p>
            <a:pPr algn="l"/>
            <a:r>
              <a:rPr sz="1100" b="1" i="0">
                <a:solidFill>
                  <a:srgbClr val="E9A23B"/>
                </a:solidFill>
                <a:latin typeface="Calibri"/>
              </a:rPr>
              <a:t>Recommendation hallucinations</a:t>
            </a:r>
          </a:p>
        </p:txBody>
      </p:sp>
      <p:sp>
        <p:nvSpPr>
          <p:cNvPr id="11" name="TextBox 10"/>
          <p:cNvSpPr txBox="1"/>
          <p:nvPr/>
        </p:nvSpPr>
        <p:spPr>
          <a:xfrm>
            <a:off x="704088" y="3200400"/>
            <a:ext cx="10753344" cy="365760"/>
          </a:xfrm>
          <a:prstGeom prst="rect">
            <a:avLst/>
          </a:prstGeom>
          <a:noFill/>
        </p:spPr>
        <p:txBody>
          <a:bodyPr wrap="square" anchor="t" lIns="0" rIns="0" tIns="0" bIns="0">
            <a:spAutoFit/>
          </a:bodyPr>
          <a:lstStyle/>
          <a:p>
            <a:pPr algn="l"/>
            <a:r>
              <a:rPr sz="1000" b="0" i="0">
                <a:solidFill>
                  <a:srgbClr val="ECF0F7"/>
                </a:solidFill>
                <a:latin typeface="Calibri"/>
              </a:rPr>
              <a:t>Explainability + confidence scoring; dedicated hallucination test suite.</a:t>
            </a:r>
          </a:p>
        </p:txBody>
      </p:sp>
      <p:sp>
        <p:nvSpPr>
          <p:cNvPr id="12" name="Rounded Rectangle 11"/>
          <p:cNvSpPr/>
          <p:nvPr/>
        </p:nvSpPr>
        <p:spPr>
          <a:xfrm>
            <a:off x="502920" y="3840480"/>
            <a:ext cx="11155680" cy="1005840"/>
          </a:xfrm>
          <a:prstGeom prst="roundRect">
            <a:avLst>
              <a:gd name="adj" fmla="val 10000"/>
            </a:avLst>
          </a:prstGeom>
          <a:solidFill>
            <a:srgbClr val="1E30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04088" y="3977640"/>
            <a:ext cx="10753344" cy="320040"/>
          </a:xfrm>
          <a:prstGeom prst="rect">
            <a:avLst/>
          </a:prstGeom>
          <a:noFill/>
        </p:spPr>
        <p:txBody>
          <a:bodyPr wrap="square" anchor="t" lIns="0" rIns="0" tIns="0" bIns="0">
            <a:spAutoFit/>
          </a:bodyPr>
          <a:lstStyle/>
          <a:p>
            <a:pPr algn="l"/>
            <a:r>
              <a:rPr sz="1100" b="1" i="0">
                <a:solidFill>
                  <a:srgbClr val="E9A23B"/>
                </a:solidFill>
                <a:latin typeface="Calibri"/>
              </a:rPr>
              <a:t>Limited job data (no APIs in v1)</a:t>
            </a:r>
          </a:p>
        </p:txBody>
      </p:sp>
      <p:sp>
        <p:nvSpPr>
          <p:cNvPr id="14" name="TextBox 13"/>
          <p:cNvSpPr txBox="1"/>
          <p:nvPr/>
        </p:nvSpPr>
        <p:spPr>
          <a:xfrm>
            <a:off x="704088" y="4343400"/>
            <a:ext cx="10753344" cy="365760"/>
          </a:xfrm>
          <a:prstGeom prst="rect">
            <a:avLst/>
          </a:prstGeom>
          <a:noFill/>
        </p:spPr>
        <p:txBody>
          <a:bodyPr wrap="square" anchor="t" lIns="0" rIns="0" tIns="0" bIns="0">
            <a:spAutoFit/>
          </a:bodyPr>
          <a:lstStyle/>
          <a:p>
            <a:pPr algn="l"/>
            <a:r>
              <a:rPr sz="1000" b="0" i="0">
                <a:solidFill>
                  <a:srgbClr val="ECF0F7"/>
                </a:solidFill>
                <a:latin typeface="Calibri"/>
              </a:rPr>
              <a:t>Curated 100–300 JD dataset, scoped to 1–2 domains done well.</a:t>
            </a:r>
          </a:p>
        </p:txBody>
      </p:sp>
      <p:sp>
        <p:nvSpPr>
          <p:cNvPr id="15" name="Rounded Rectangle 14"/>
          <p:cNvSpPr/>
          <p:nvPr/>
        </p:nvSpPr>
        <p:spPr>
          <a:xfrm>
            <a:off x="502920" y="4983480"/>
            <a:ext cx="11155680" cy="1005840"/>
          </a:xfrm>
          <a:prstGeom prst="roundRect">
            <a:avLst>
              <a:gd name="adj" fmla="val 10000"/>
            </a:avLst>
          </a:prstGeom>
          <a:solidFill>
            <a:srgbClr val="1E30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04088" y="5120640"/>
            <a:ext cx="10753344" cy="320040"/>
          </a:xfrm>
          <a:prstGeom prst="rect">
            <a:avLst/>
          </a:prstGeom>
          <a:noFill/>
        </p:spPr>
        <p:txBody>
          <a:bodyPr wrap="square" anchor="t" lIns="0" rIns="0" tIns="0" bIns="0">
            <a:spAutoFit/>
          </a:bodyPr>
          <a:lstStyle/>
          <a:p>
            <a:pPr algn="l"/>
            <a:r>
              <a:rPr sz="1100" b="1" i="0">
                <a:solidFill>
                  <a:srgbClr val="E9A23B"/>
                </a:solidFill>
                <a:latin typeface="Calibri"/>
              </a:rPr>
              <a:t>Scope creep during discovery</a:t>
            </a:r>
          </a:p>
        </p:txBody>
      </p:sp>
      <p:sp>
        <p:nvSpPr>
          <p:cNvPr id="17" name="TextBox 16"/>
          <p:cNvSpPr txBox="1"/>
          <p:nvPr/>
        </p:nvSpPr>
        <p:spPr>
          <a:xfrm>
            <a:off x="704088" y="5486400"/>
            <a:ext cx="10753344" cy="365760"/>
          </a:xfrm>
          <a:prstGeom prst="rect">
            <a:avLst/>
          </a:prstGeom>
          <a:noFill/>
        </p:spPr>
        <p:txBody>
          <a:bodyPr wrap="square" anchor="t" lIns="0" rIns="0" tIns="0" bIns="0">
            <a:spAutoFit/>
          </a:bodyPr>
          <a:lstStyle/>
          <a:p>
            <a:pPr algn="l"/>
            <a:r>
              <a:rPr sz="1000" b="0" i="0">
                <a:solidFill>
                  <a:srgbClr val="ECF0F7"/>
                </a:solidFill>
                <a:latin typeface="Calibri"/>
              </a:rPr>
              <a:t>Observed personally. Ideas go to the backlog; build validates few hypotheses at a time.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5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1155680" cy="502920"/>
          </a:xfrm>
          <a:prstGeom prst="rect">
            <a:avLst/>
          </a:prstGeom>
          <a:noFill/>
        </p:spPr>
        <p:txBody>
          <a:bodyPr wrap="square" anchor="t" lIns="0" rIns="0" tIns="0" bIns="0">
            <a:spAutoFit/>
          </a:bodyPr>
          <a:lstStyle/>
          <a:p>
            <a:pPr algn="l"/>
            <a:r>
              <a:rPr sz="2600" b="1" i="0">
                <a:solidFill>
                  <a:srgbClr val="FFFFFF"/>
                </a:solidFill>
                <a:latin typeface="Calibri"/>
              </a:rPr>
              <a:t>Roadmap — Thin Slices, Each One Shippable</a:t>
            </a:r>
          </a:p>
        </p:txBody>
      </p:sp>
      <p:sp>
        <p:nvSpPr>
          <p:cNvPr id="4" name="TextBox 3"/>
          <p:cNvSpPr txBox="1"/>
          <p:nvPr/>
        </p:nvSpPr>
        <p:spPr>
          <a:xfrm>
            <a:off x="502920" y="6492240"/>
            <a:ext cx="5486400" cy="256032"/>
          </a:xfrm>
          <a:prstGeom prst="rect">
            <a:avLst/>
          </a:prstGeom>
          <a:noFill/>
        </p:spPr>
        <p:txBody>
          <a:bodyPr wrap="square" anchor="t" lIns="0" rIns="0" tIns="0" bIns="0">
            <a:spAutoFit/>
          </a:bodyPr>
          <a:lstStyle/>
          <a:p>
            <a:pPr algn="l"/>
            <a:r>
              <a:rPr sz="850" b="0" i="0">
                <a:solidFill>
                  <a:srgbClr val="A9B7CC"/>
                </a:solidFill>
                <a:latin typeface="Calibri"/>
              </a:rPr>
              <a:t>Drishti · Ushasree Jakilinki</a:t>
            </a:r>
          </a:p>
        </p:txBody>
      </p:sp>
      <p:sp>
        <p:nvSpPr>
          <p:cNvPr id="5" name="TextBox 4"/>
          <p:cNvSpPr txBox="1"/>
          <p:nvPr/>
        </p:nvSpPr>
        <p:spPr>
          <a:xfrm>
            <a:off x="8778240" y="6492240"/>
            <a:ext cx="3017520" cy="256032"/>
          </a:xfrm>
          <a:prstGeom prst="rect">
            <a:avLst/>
          </a:prstGeom>
          <a:noFill/>
        </p:spPr>
        <p:txBody>
          <a:bodyPr wrap="square" anchor="t" lIns="0" rIns="0" tIns="0" bIns="0">
            <a:spAutoFit/>
          </a:bodyPr>
          <a:lstStyle/>
          <a:p>
            <a:pPr algn="r"/>
            <a:r>
              <a:rPr sz="850" b="0" i="0">
                <a:solidFill>
                  <a:srgbClr val="A9B7CC"/>
                </a:solidFill>
                <a:latin typeface="Calibri"/>
              </a:rPr>
              <a:t>10</a:t>
            </a:r>
          </a:p>
        </p:txBody>
      </p:sp>
      <p:sp>
        <p:nvSpPr>
          <p:cNvPr id="6" name="Rounded Rectangle 5"/>
          <p:cNvSpPr/>
          <p:nvPr/>
        </p:nvSpPr>
        <p:spPr>
          <a:xfrm>
            <a:off x="365760" y="1645920"/>
            <a:ext cx="2743200" cy="2377440"/>
          </a:xfrm>
          <a:prstGeom prst="roundRect">
            <a:avLst>
              <a:gd name="adj" fmla="val 10000"/>
            </a:avLst>
          </a:prstGeom>
          <a:solidFill>
            <a:srgbClr val="1E30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783080"/>
            <a:ext cx="548640" cy="457200"/>
          </a:xfrm>
          <a:prstGeom prst="rect">
            <a:avLst/>
          </a:prstGeom>
          <a:noFill/>
        </p:spPr>
        <p:txBody>
          <a:bodyPr wrap="square" anchor="t" lIns="0" rIns="0" tIns="0" bIns="0">
            <a:spAutoFit/>
          </a:bodyPr>
          <a:lstStyle/>
          <a:p>
            <a:pPr algn="l"/>
            <a:r>
              <a:rPr sz="2200" b="1" i="0">
                <a:solidFill>
                  <a:srgbClr val="E9A23B"/>
                </a:solidFill>
                <a:latin typeface="Calibri"/>
              </a:rPr>
              <a:t>A</a:t>
            </a:r>
          </a:p>
        </p:txBody>
      </p:sp>
      <p:sp>
        <p:nvSpPr>
          <p:cNvPr id="8" name="Rounded Rectangle 7"/>
          <p:cNvSpPr/>
          <p:nvPr/>
        </p:nvSpPr>
        <p:spPr>
          <a:xfrm>
            <a:off x="2194560" y="1828800"/>
            <a:ext cx="731520" cy="292608"/>
          </a:xfrm>
          <a:prstGeom prst="roundRect">
            <a:avLst>
              <a:gd name="adj" fmla="val 10000"/>
            </a:avLst>
          </a:prstGeom>
          <a:solidFill>
            <a:srgbClr val="273B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194560" y="1874519"/>
            <a:ext cx="731520" cy="228600"/>
          </a:xfrm>
          <a:prstGeom prst="rect">
            <a:avLst/>
          </a:prstGeom>
          <a:noFill/>
        </p:spPr>
        <p:txBody>
          <a:bodyPr wrap="square" anchor="t" lIns="0" rIns="0" tIns="0" bIns="0">
            <a:spAutoFit/>
          </a:bodyPr>
          <a:lstStyle/>
          <a:p>
            <a:pPr algn="ctr"/>
            <a:r>
              <a:rPr sz="850" b="1" i="0">
                <a:solidFill>
                  <a:srgbClr val="E9A23B"/>
                </a:solidFill>
                <a:latin typeface="Calibri"/>
              </a:rPr>
              <a:t>NOW</a:t>
            </a:r>
          </a:p>
        </p:txBody>
      </p:sp>
      <p:sp>
        <p:nvSpPr>
          <p:cNvPr id="10" name="TextBox 9"/>
          <p:cNvSpPr txBox="1"/>
          <p:nvPr/>
        </p:nvSpPr>
        <p:spPr>
          <a:xfrm>
            <a:off x="548640" y="2331720"/>
            <a:ext cx="2377440" cy="365760"/>
          </a:xfrm>
          <a:prstGeom prst="rect">
            <a:avLst/>
          </a:prstGeom>
          <a:noFill/>
        </p:spPr>
        <p:txBody>
          <a:bodyPr wrap="square" anchor="t" lIns="0" rIns="0" tIns="0" bIns="0">
            <a:spAutoFit/>
          </a:bodyPr>
          <a:lstStyle/>
          <a:p>
            <a:pPr algn="l"/>
            <a:r>
              <a:rPr sz="1250" b="1" i="0">
                <a:solidFill>
                  <a:srgbClr val="FFFFFF"/>
                </a:solidFill>
                <a:latin typeface="Calibri"/>
              </a:rPr>
              <a:t>Foundation</a:t>
            </a:r>
          </a:p>
        </p:txBody>
      </p:sp>
      <p:sp>
        <p:nvSpPr>
          <p:cNvPr id="11" name="TextBox 10"/>
          <p:cNvSpPr txBox="1"/>
          <p:nvPr/>
        </p:nvSpPr>
        <p:spPr>
          <a:xfrm>
            <a:off x="548640" y="2743200"/>
            <a:ext cx="2377440" cy="1188720"/>
          </a:xfrm>
          <a:prstGeom prst="rect">
            <a:avLst/>
          </a:prstGeom>
          <a:noFill/>
        </p:spPr>
        <p:txBody>
          <a:bodyPr wrap="square" anchor="t" lIns="0" rIns="0" tIns="0" bIns="0">
            <a:spAutoFit/>
          </a:bodyPr>
          <a:lstStyle/>
          <a:p>
            <a:pPr algn="l"/>
            <a:r>
              <a:rPr sz="900" b="0" i="0">
                <a:solidFill>
                  <a:srgbClr val="A9B7CC"/>
                </a:solidFill>
                <a:latin typeface="Calibri"/>
              </a:rPr>
              <a:t>Vision one-pager · v1 PRD · Trajectory Profile schema frozen</a:t>
            </a:r>
          </a:p>
        </p:txBody>
      </p:sp>
      <p:sp>
        <p:nvSpPr>
          <p:cNvPr id="12" name="TextBox 11"/>
          <p:cNvSpPr txBox="1"/>
          <p:nvPr/>
        </p:nvSpPr>
        <p:spPr>
          <a:xfrm>
            <a:off x="3090672" y="2560320"/>
            <a:ext cx="274320" cy="365760"/>
          </a:xfrm>
          <a:prstGeom prst="rect">
            <a:avLst/>
          </a:prstGeom>
          <a:noFill/>
        </p:spPr>
        <p:txBody>
          <a:bodyPr wrap="square" anchor="t" lIns="0" rIns="0" tIns="0" bIns="0">
            <a:spAutoFit/>
          </a:bodyPr>
          <a:lstStyle/>
          <a:p>
            <a:pPr algn="l"/>
            <a:r>
              <a:rPr sz="1600" b="1" i="0">
                <a:solidFill>
                  <a:srgbClr val="E9A23B"/>
                </a:solidFill>
                <a:latin typeface="Calibri"/>
              </a:rPr>
              <a:t>→</a:t>
            </a:r>
          </a:p>
        </p:txBody>
      </p:sp>
      <p:sp>
        <p:nvSpPr>
          <p:cNvPr id="13" name="Rounded Rectangle 12"/>
          <p:cNvSpPr/>
          <p:nvPr/>
        </p:nvSpPr>
        <p:spPr>
          <a:xfrm>
            <a:off x="3337560" y="1645920"/>
            <a:ext cx="2743200" cy="2377440"/>
          </a:xfrm>
          <a:prstGeom prst="roundRect">
            <a:avLst>
              <a:gd name="adj" fmla="val 10000"/>
            </a:avLst>
          </a:prstGeom>
          <a:solidFill>
            <a:srgbClr val="1E30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520440" y="1783080"/>
            <a:ext cx="548640" cy="457200"/>
          </a:xfrm>
          <a:prstGeom prst="rect">
            <a:avLst/>
          </a:prstGeom>
          <a:noFill/>
        </p:spPr>
        <p:txBody>
          <a:bodyPr wrap="square" anchor="t" lIns="0" rIns="0" tIns="0" bIns="0">
            <a:spAutoFit/>
          </a:bodyPr>
          <a:lstStyle/>
          <a:p>
            <a:pPr algn="l"/>
            <a:r>
              <a:rPr sz="2200" b="1" i="0">
                <a:solidFill>
                  <a:srgbClr val="E9A23B"/>
                </a:solidFill>
                <a:latin typeface="Calibri"/>
              </a:rPr>
              <a:t>B</a:t>
            </a:r>
          </a:p>
        </p:txBody>
      </p:sp>
      <p:sp>
        <p:nvSpPr>
          <p:cNvPr id="15" name="Rounded Rectangle 14"/>
          <p:cNvSpPr/>
          <p:nvPr/>
        </p:nvSpPr>
        <p:spPr>
          <a:xfrm>
            <a:off x="5166360" y="1828800"/>
            <a:ext cx="731520" cy="292608"/>
          </a:xfrm>
          <a:prstGeom prst="roundRect">
            <a:avLst>
              <a:gd name="adj" fmla="val 10000"/>
            </a:avLst>
          </a:prstGeom>
          <a:solidFill>
            <a:srgbClr val="273B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166360" y="1874519"/>
            <a:ext cx="731520" cy="228600"/>
          </a:xfrm>
          <a:prstGeom prst="rect">
            <a:avLst/>
          </a:prstGeom>
          <a:noFill/>
        </p:spPr>
        <p:txBody>
          <a:bodyPr wrap="square" anchor="t" lIns="0" rIns="0" tIns="0" bIns="0">
            <a:spAutoFit/>
          </a:bodyPr>
          <a:lstStyle/>
          <a:p>
            <a:pPr algn="ctr"/>
            <a:r>
              <a:rPr sz="850" b="1" i="0">
                <a:solidFill>
                  <a:srgbClr val="E9A23B"/>
                </a:solidFill>
                <a:latin typeface="Calibri"/>
              </a:rPr>
              <a:t>NEXT</a:t>
            </a:r>
          </a:p>
        </p:txBody>
      </p:sp>
      <p:sp>
        <p:nvSpPr>
          <p:cNvPr id="17" name="TextBox 16"/>
          <p:cNvSpPr txBox="1"/>
          <p:nvPr/>
        </p:nvSpPr>
        <p:spPr>
          <a:xfrm>
            <a:off x="3520440" y="2331720"/>
            <a:ext cx="2377440" cy="365760"/>
          </a:xfrm>
          <a:prstGeom prst="rect">
            <a:avLst/>
          </a:prstGeom>
          <a:noFill/>
        </p:spPr>
        <p:txBody>
          <a:bodyPr wrap="square" anchor="t" lIns="0" rIns="0" tIns="0" bIns="0">
            <a:spAutoFit/>
          </a:bodyPr>
          <a:lstStyle/>
          <a:p>
            <a:pPr algn="l"/>
            <a:r>
              <a:rPr sz="1250" b="1" i="0">
                <a:solidFill>
                  <a:srgbClr val="FFFFFF"/>
                </a:solidFill>
                <a:latin typeface="Calibri"/>
              </a:rPr>
              <a:t>Trajectory Profile</a:t>
            </a:r>
          </a:p>
        </p:txBody>
      </p:sp>
      <p:sp>
        <p:nvSpPr>
          <p:cNvPr id="18" name="TextBox 17"/>
          <p:cNvSpPr txBox="1"/>
          <p:nvPr/>
        </p:nvSpPr>
        <p:spPr>
          <a:xfrm>
            <a:off x="3520440" y="2743200"/>
            <a:ext cx="2377440" cy="1188720"/>
          </a:xfrm>
          <a:prstGeom prst="rect">
            <a:avLst/>
          </a:prstGeom>
          <a:noFill/>
        </p:spPr>
        <p:txBody>
          <a:bodyPr wrap="square" anchor="t" lIns="0" rIns="0" tIns="0" bIns="0">
            <a:spAutoFit/>
          </a:bodyPr>
          <a:lstStyle/>
          <a:p>
            <a:pPr algn="l"/>
            <a:r>
              <a:rPr sz="900" b="0" i="0">
                <a:solidFill>
                  <a:srgbClr val="A9B7CC"/>
                </a:solidFill>
                <a:latin typeface="Calibri"/>
              </a:rPr>
              <a:t>Resume ingestion · signals form · profile JSON for a test user</a:t>
            </a:r>
          </a:p>
        </p:txBody>
      </p:sp>
      <p:sp>
        <p:nvSpPr>
          <p:cNvPr id="19" name="TextBox 18"/>
          <p:cNvSpPr txBox="1"/>
          <p:nvPr/>
        </p:nvSpPr>
        <p:spPr>
          <a:xfrm>
            <a:off x="6062472" y="2560320"/>
            <a:ext cx="274320" cy="365760"/>
          </a:xfrm>
          <a:prstGeom prst="rect">
            <a:avLst/>
          </a:prstGeom>
          <a:noFill/>
        </p:spPr>
        <p:txBody>
          <a:bodyPr wrap="square" anchor="t" lIns="0" rIns="0" tIns="0" bIns="0">
            <a:spAutoFit/>
          </a:bodyPr>
          <a:lstStyle/>
          <a:p>
            <a:pPr algn="l"/>
            <a:r>
              <a:rPr sz="1600" b="1" i="0">
                <a:solidFill>
                  <a:srgbClr val="E9A23B"/>
                </a:solidFill>
                <a:latin typeface="Calibri"/>
              </a:rPr>
              <a:t>→</a:t>
            </a:r>
          </a:p>
        </p:txBody>
      </p:sp>
      <p:sp>
        <p:nvSpPr>
          <p:cNvPr id="20" name="Rounded Rectangle 19"/>
          <p:cNvSpPr/>
          <p:nvPr/>
        </p:nvSpPr>
        <p:spPr>
          <a:xfrm>
            <a:off x="6309360" y="1645920"/>
            <a:ext cx="2743200" cy="2377440"/>
          </a:xfrm>
          <a:prstGeom prst="roundRect">
            <a:avLst>
              <a:gd name="adj" fmla="val 10000"/>
            </a:avLst>
          </a:prstGeom>
          <a:solidFill>
            <a:srgbClr val="1E30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92240" y="1783080"/>
            <a:ext cx="548640" cy="457200"/>
          </a:xfrm>
          <a:prstGeom prst="rect">
            <a:avLst/>
          </a:prstGeom>
          <a:noFill/>
        </p:spPr>
        <p:txBody>
          <a:bodyPr wrap="square" anchor="t" lIns="0" rIns="0" tIns="0" bIns="0">
            <a:spAutoFit/>
          </a:bodyPr>
          <a:lstStyle/>
          <a:p>
            <a:pPr algn="l"/>
            <a:r>
              <a:rPr sz="2200" b="1" i="0">
                <a:solidFill>
                  <a:srgbClr val="E9A23B"/>
                </a:solidFill>
                <a:latin typeface="Calibri"/>
              </a:rPr>
              <a:t>C</a:t>
            </a:r>
          </a:p>
        </p:txBody>
      </p:sp>
      <p:sp>
        <p:nvSpPr>
          <p:cNvPr id="22" name="TextBox 21"/>
          <p:cNvSpPr txBox="1"/>
          <p:nvPr/>
        </p:nvSpPr>
        <p:spPr>
          <a:xfrm>
            <a:off x="6492240" y="2331720"/>
            <a:ext cx="2377440" cy="365760"/>
          </a:xfrm>
          <a:prstGeom prst="rect">
            <a:avLst/>
          </a:prstGeom>
          <a:noFill/>
        </p:spPr>
        <p:txBody>
          <a:bodyPr wrap="square" anchor="t" lIns="0" rIns="0" tIns="0" bIns="0">
            <a:spAutoFit/>
          </a:bodyPr>
          <a:lstStyle/>
          <a:p>
            <a:pPr algn="l"/>
            <a:r>
              <a:rPr sz="1250" b="1" i="0">
                <a:solidFill>
                  <a:srgbClr val="FFFFFF"/>
                </a:solidFill>
                <a:latin typeface="Calibri"/>
              </a:rPr>
              <a:t>Job Intelligence</a:t>
            </a:r>
          </a:p>
        </p:txBody>
      </p:sp>
      <p:sp>
        <p:nvSpPr>
          <p:cNvPr id="23" name="TextBox 22"/>
          <p:cNvSpPr txBox="1"/>
          <p:nvPr/>
        </p:nvSpPr>
        <p:spPr>
          <a:xfrm>
            <a:off x="6492240" y="2743200"/>
            <a:ext cx="2377440" cy="1188720"/>
          </a:xfrm>
          <a:prstGeom prst="rect">
            <a:avLst/>
          </a:prstGeom>
          <a:noFill/>
        </p:spPr>
        <p:txBody>
          <a:bodyPr wrap="square" anchor="t" lIns="0" rIns="0" tIns="0" bIns="0">
            <a:spAutoFit/>
          </a:bodyPr>
          <a:lstStyle/>
          <a:p>
            <a:pPr algn="l"/>
            <a:r>
              <a:rPr sz="900" b="0" i="0">
                <a:solidFill>
                  <a:srgbClr val="A9B7CC"/>
                </a:solidFill>
                <a:latin typeface="Calibri"/>
              </a:rPr>
              <a:t>Curated JD dataset · normalization · SQLite + ChromaDB</a:t>
            </a:r>
          </a:p>
        </p:txBody>
      </p:sp>
      <p:sp>
        <p:nvSpPr>
          <p:cNvPr id="24" name="TextBox 23"/>
          <p:cNvSpPr txBox="1"/>
          <p:nvPr/>
        </p:nvSpPr>
        <p:spPr>
          <a:xfrm>
            <a:off x="9034272" y="2560320"/>
            <a:ext cx="274320" cy="365760"/>
          </a:xfrm>
          <a:prstGeom prst="rect">
            <a:avLst/>
          </a:prstGeom>
          <a:noFill/>
        </p:spPr>
        <p:txBody>
          <a:bodyPr wrap="square" anchor="t" lIns="0" rIns="0" tIns="0" bIns="0">
            <a:spAutoFit/>
          </a:bodyPr>
          <a:lstStyle/>
          <a:p>
            <a:pPr algn="l"/>
            <a:r>
              <a:rPr sz="1600" b="1" i="0">
                <a:solidFill>
                  <a:srgbClr val="E9A23B"/>
                </a:solidFill>
                <a:latin typeface="Calibri"/>
              </a:rPr>
              <a:t>→</a:t>
            </a:r>
          </a:p>
        </p:txBody>
      </p:sp>
      <p:sp>
        <p:nvSpPr>
          <p:cNvPr id="25" name="Rounded Rectangle 24"/>
          <p:cNvSpPr/>
          <p:nvPr/>
        </p:nvSpPr>
        <p:spPr>
          <a:xfrm>
            <a:off x="9281160" y="1645920"/>
            <a:ext cx="2743200" cy="2377440"/>
          </a:xfrm>
          <a:prstGeom prst="roundRect">
            <a:avLst>
              <a:gd name="adj" fmla="val 10000"/>
            </a:avLst>
          </a:prstGeom>
          <a:solidFill>
            <a:srgbClr val="1E30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464040" y="1783080"/>
            <a:ext cx="548640" cy="457200"/>
          </a:xfrm>
          <a:prstGeom prst="rect">
            <a:avLst/>
          </a:prstGeom>
          <a:noFill/>
        </p:spPr>
        <p:txBody>
          <a:bodyPr wrap="square" anchor="t" lIns="0" rIns="0" tIns="0" bIns="0">
            <a:spAutoFit/>
          </a:bodyPr>
          <a:lstStyle/>
          <a:p>
            <a:pPr algn="l"/>
            <a:r>
              <a:rPr sz="2200" b="1" i="0">
                <a:solidFill>
                  <a:srgbClr val="E9A23B"/>
                </a:solidFill>
                <a:latin typeface="Calibri"/>
              </a:rPr>
              <a:t>D</a:t>
            </a:r>
          </a:p>
        </p:txBody>
      </p:sp>
      <p:sp>
        <p:nvSpPr>
          <p:cNvPr id="27" name="TextBox 26"/>
          <p:cNvSpPr txBox="1"/>
          <p:nvPr/>
        </p:nvSpPr>
        <p:spPr>
          <a:xfrm>
            <a:off x="9464040" y="2331720"/>
            <a:ext cx="2377440" cy="365760"/>
          </a:xfrm>
          <a:prstGeom prst="rect">
            <a:avLst/>
          </a:prstGeom>
          <a:noFill/>
        </p:spPr>
        <p:txBody>
          <a:bodyPr wrap="square" anchor="t" lIns="0" rIns="0" tIns="0" bIns="0">
            <a:spAutoFit/>
          </a:bodyPr>
          <a:lstStyle/>
          <a:p>
            <a:pPr algn="l"/>
            <a:r>
              <a:rPr sz="1250" b="1" i="0">
                <a:solidFill>
                  <a:srgbClr val="FFFFFF"/>
                </a:solidFill>
                <a:latin typeface="Calibri"/>
              </a:rPr>
              <a:t>Matching &amp; Insight</a:t>
            </a:r>
          </a:p>
        </p:txBody>
      </p:sp>
      <p:sp>
        <p:nvSpPr>
          <p:cNvPr id="28" name="TextBox 27"/>
          <p:cNvSpPr txBox="1"/>
          <p:nvPr/>
        </p:nvSpPr>
        <p:spPr>
          <a:xfrm>
            <a:off x="9464040" y="2743200"/>
            <a:ext cx="2377440" cy="1188720"/>
          </a:xfrm>
          <a:prstGeom prst="rect">
            <a:avLst/>
          </a:prstGeom>
          <a:noFill/>
        </p:spPr>
        <p:txBody>
          <a:bodyPr wrap="square" anchor="t" lIns="0" rIns="0" tIns="0" bIns="0">
            <a:spAutoFit/>
          </a:bodyPr>
          <a:lstStyle/>
          <a:p>
            <a:pPr algn="l"/>
            <a:r>
              <a:rPr sz="900" b="0" i="0">
                <a:solidFill>
                  <a:srgbClr val="A9B7CC"/>
                </a:solidFill>
                <a:latin typeface="Calibri"/>
              </a:rPr>
              <a:t>3-signal scoring · explanations &amp; gaps · Streamlit UI · feedback → v1 DEMO</a:t>
            </a:r>
          </a:p>
        </p:txBody>
      </p:sp>
      <p:sp>
        <p:nvSpPr>
          <p:cNvPr id="29" name="Rounded Rectangle 28"/>
          <p:cNvSpPr/>
          <p:nvPr/>
        </p:nvSpPr>
        <p:spPr>
          <a:xfrm>
            <a:off x="502920" y="4389120"/>
            <a:ext cx="11155680" cy="1371600"/>
          </a:xfrm>
          <a:prstGeom prst="roundRect">
            <a:avLst>
              <a:gd name="adj" fmla="val 10000"/>
            </a:avLst>
          </a:prstGeom>
          <a:solidFill>
            <a:srgbClr val="1E30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04088" y="4526280"/>
            <a:ext cx="10753344" cy="320040"/>
          </a:xfrm>
          <a:prstGeom prst="rect">
            <a:avLst/>
          </a:prstGeom>
          <a:noFill/>
        </p:spPr>
        <p:txBody>
          <a:bodyPr wrap="square" anchor="t" lIns="0" rIns="0" tIns="0" bIns="0">
            <a:spAutoFit/>
          </a:bodyPr>
          <a:lstStyle/>
          <a:p>
            <a:pPr algn="l"/>
            <a:r>
              <a:rPr sz="1200" b="1" i="0">
                <a:solidFill>
                  <a:srgbClr val="E9A23B"/>
                </a:solidFill>
                <a:latin typeface="Calibri"/>
              </a:rPr>
              <a:t>Future phases — the Career Intelligence vision</a:t>
            </a:r>
          </a:p>
        </p:txBody>
      </p:sp>
      <p:sp>
        <p:nvSpPr>
          <p:cNvPr id="31" name="TextBox 30"/>
          <p:cNvSpPr txBox="1"/>
          <p:nvPr/>
        </p:nvSpPr>
        <p:spPr>
          <a:xfrm>
            <a:off x="704088" y="4892040"/>
            <a:ext cx="10753344" cy="731520"/>
          </a:xfrm>
          <a:prstGeom prst="rect">
            <a:avLst/>
          </a:prstGeom>
          <a:noFill/>
        </p:spPr>
        <p:txBody>
          <a:bodyPr wrap="square" anchor="t" lIns="0" rIns="0" tIns="0" bIns="0">
            <a:spAutoFit/>
          </a:bodyPr>
          <a:lstStyle/>
          <a:p>
            <a:pPr algn="l"/>
            <a:r>
              <a:rPr sz="1050" b="0" i="0">
                <a:solidFill>
                  <a:srgbClr val="ECF0F7"/>
                </a:solidFill>
                <a:latin typeface="Calibri"/>
              </a:rPr>
              <a:t>Live job APIs → multi-agent orchestration (Resume, Preference, Discovery, Matching, Insight, Feedback agents) → gap analysis, learning recommendations, and personalized career roadmaps: “what do I need to do to get there?”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5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828800"/>
            <a:ext cx="10515600" cy="640080"/>
          </a:xfrm>
          <a:prstGeom prst="rect">
            <a:avLst/>
          </a:prstGeom>
          <a:noFill/>
        </p:spPr>
        <p:txBody>
          <a:bodyPr wrap="square" anchor="t" lIns="0" rIns="0" tIns="0" bIns="0">
            <a:spAutoFit/>
          </a:bodyPr>
          <a:lstStyle/>
          <a:p>
            <a:pPr algn="l"/>
            <a:r>
              <a:rPr sz="4000" b="1" i="0">
                <a:solidFill>
                  <a:srgbClr val="FFFFFF"/>
                </a:solidFill>
                <a:latin typeface="Calibri"/>
              </a:rPr>
              <a:t>DRISHTI</a:t>
            </a:r>
          </a:p>
        </p:txBody>
      </p:sp>
      <p:sp>
        <p:nvSpPr>
          <p:cNvPr id="4" name="TextBox 3"/>
          <p:cNvSpPr txBox="1"/>
          <p:nvPr/>
        </p:nvSpPr>
        <p:spPr>
          <a:xfrm>
            <a:off x="822960" y="2651760"/>
            <a:ext cx="10515600" cy="457200"/>
          </a:xfrm>
          <a:prstGeom prst="rect">
            <a:avLst/>
          </a:prstGeom>
          <a:noFill/>
        </p:spPr>
        <p:txBody>
          <a:bodyPr wrap="square" anchor="t" lIns="0" rIns="0" tIns="0" bIns="0">
            <a:spAutoFit/>
          </a:bodyPr>
          <a:lstStyle/>
          <a:p>
            <a:pPr algn="l"/>
            <a:r>
              <a:rPr sz="1800" b="0" i="1">
                <a:solidFill>
                  <a:srgbClr val="E9A23B"/>
                </a:solidFill>
                <a:latin typeface="Calibri"/>
              </a:rPr>
              <a:t>See beyond your resume.</a:t>
            </a:r>
          </a:p>
        </p:txBody>
      </p:sp>
      <p:sp>
        <p:nvSpPr>
          <p:cNvPr id="5" name="TextBox 4"/>
          <p:cNvSpPr txBox="1"/>
          <p:nvPr/>
        </p:nvSpPr>
        <p:spPr>
          <a:xfrm>
            <a:off x="822960" y="3566160"/>
            <a:ext cx="10515600" cy="914400"/>
          </a:xfrm>
          <a:prstGeom prst="rect">
            <a:avLst/>
          </a:prstGeom>
          <a:noFill/>
        </p:spPr>
        <p:txBody>
          <a:bodyPr wrap="square" anchor="t" lIns="0" rIns="0" tIns="0" bIns="0">
            <a:spAutoFit/>
          </a:bodyPr>
          <a:lstStyle/>
          <a:p>
            <a:pPr algn="l"/>
            <a:r>
              <a:rPr sz="1400" b="0" i="0">
                <a:solidFill>
                  <a:srgbClr val="ECF0F7"/>
                </a:solidFill>
                <a:latin typeface="Calibri"/>
              </a:rPr>
              <a:t>Traditional systems ask: “What jobs match my resume?”
Drishti asks: “What jobs match who I am becoming — and what do I need to do to get there?”</a:t>
            </a:r>
          </a:p>
        </p:txBody>
      </p:sp>
      <p:sp>
        <p:nvSpPr>
          <p:cNvPr id="6" name="TextBox 5"/>
          <p:cNvSpPr txBox="1"/>
          <p:nvPr/>
        </p:nvSpPr>
        <p:spPr>
          <a:xfrm>
            <a:off x="822960" y="4937760"/>
            <a:ext cx="10515600" cy="365760"/>
          </a:xfrm>
          <a:prstGeom prst="rect">
            <a:avLst/>
          </a:prstGeom>
          <a:noFill/>
        </p:spPr>
        <p:txBody>
          <a:bodyPr wrap="square" anchor="t" lIns="0" rIns="0" tIns="0" bIns="0">
            <a:spAutoFit/>
          </a:bodyPr>
          <a:lstStyle/>
          <a:p>
            <a:pPr algn="l"/>
            <a:r>
              <a:rPr sz="1400" b="1" i="0">
                <a:solidFill>
                  <a:srgbClr val="FFFFFF"/>
                </a:solidFill>
                <a:latin typeface="Calibri"/>
              </a:rPr>
              <a:t>Ushasree Jakilinki</a:t>
            </a:r>
          </a:p>
        </p:txBody>
      </p:sp>
      <p:sp>
        <p:nvSpPr>
          <p:cNvPr id="7" name="TextBox 6"/>
          <p:cNvSpPr txBox="1"/>
          <p:nvPr/>
        </p:nvSpPr>
        <p:spPr>
          <a:xfrm>
            <a:off x="822960" y="5349240"/>
            <a:ext cx="10515600" cy="320040"/>
          </a:xfrm>
          <a:prstGeom prst="rect">
            <a:avLst/>
          </a:prstGeom>
          <a:noFill/>
        </p:spPr>
        <p:txBody>
          <a:bodyPr wrap="square" anchor="t" lIns="0" rIns="0" tIns="0" bIns="0">
            <a:spAutoFit/>
          </a:bodyPr>
          <a:lstStyle/>
          <a:p>
            <a:pPr algn="l"/>
            <a:r>
              <a:rPr sz="1100" b="0" i="0">
                <a:solidFill>
                  <a:srgbClr val="A9B7CC"/>
                </a:solidFill>
                <a:latin typeface="Calibri"/>
              </a:rPr>
              <a:t>linkedin.com/in/ushasreejakilinki  ·  github.com/auj012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